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dcc6f7a0134929" /><Relationship Type="http://schemas.openxmlformats.org/officeDocument/2006/relationships/extended-properties" Target="/docProps/app.xml" Id="R620012d0c1504efa" /><Relationship Type="http://schemas.openxmlformats.org/officeDocument/2006/relationships/officeDocument" Target="/ppt/presentation.xml" Id="R945d26bccc9345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234ac9e8464298"/>
  </p:sldMasterIdLst>
  <p:notesMasterIdLst>
    <p:notesMasterId xmlns:r="http://schemas.openxmlformats.org/officeDocument/2006/relationships" r:id="Ra97060cebc35455d"/>
  </p:notesMasterIdLst>
  <p:sldIdLst>
    <p:sldId xmlns:r="http://schemas.openxmlformats.org/officeDocument/2006/relationships" id="256" r:id="R3ba36044f1254e41"/>
    <p:sldId xmlns:r="http://schemas.openxmlformats.org/officeDocument/2006/relationships" id="257" r:id="Rc3d980d7f7ce4a33"/>
    <p:sldId xmlns:r="http://schemas.openxmlformats.org/officeDocument/2006/relationships" id="258" r:id="Re9fa8046a5ca4f9e"/>
    <p:sldId xmlns:r="http://schemas.openxmlformats.org/officeDocument/2006/relationships" id="259" r:id="R0b343b8952074b89"/>
    <p:sldId xmlns:r="http://schemas.openxmlformats.org/officeDocument/2006/relationships" id="260" r:id="R55eb63ff72ae4733"/>
    <p:sldId xmlns:r="http://schemas.openxmlformats.org/officeDocument/2006/relationships" id="261" r:id="R21cf46b974ca4074"/>
    <p:sldId xmlns:r="http://schemas.openxmlformats.org/officeDocument/2006/relationships" id="262" r:id="Rd0cc660e2f3b46a0"/>
    <p:sldId xmlns:r="http://schemas.openxmlformats.org/officeDocument/2006/relationships" id="263" r:id="R1e290c253dd1491f"/>
    <p:sldId xmlns:r="http://schemas.openxmlformats.org/officeDocument/2006/relationships" id="264" r:id="Rad95d44ccfe74d55"/>
    <p:sldId xmlns:r="http://schemas.openxmlformats.org/officeDocument/2006/relationships" id="265" r:id="R0a165216189b40ff"/>
    <p:sldId xmlns:r="http://schemas.openxmlformats.org/officeDocument/2006/relationships" id="266" r:id="Rf2d1b6ab884247b1"/>
    <p:sldId xmlns:r="http://schemas.openxmlformats.org/officeDocument/2006/relationships" id="267" r:id="R95ad03d1e57246c9"/>
    <p:sldId xmlns:r="http://schemas.openxmlformats.org/officeDocument/2006/relationships" id="268" r:id="R98787e7314c44f0b"/>
    <p:sldId xmlns:r="http://schemas.openxmlformats.org/officeDocument/2006/relationships" id="269" r:id="R0e8ba42fa938429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d973db1f004def" /><Relationship Type="http://schemas.openxmlformats.org/officeDocument/2006/relationships/slideMaster" Target="/ppt/slideMasters/slideMaster1.xml" Id="R1b234ac9e8464298" /><Relationship Type="http://schemas.openxmlformats.org/officeDocument/2006/relationships/notesMaster" Target="/ppt/notesMasters/notesMaster1.xml" Id="Ra97060cebc35455d" /><Relationship Type="http://schemas.openxmlformats.org/officeDocument/2006/relationships/presProps" Target="/ppt/presProps.xml" Id="R457f4516a0184473" /><Relationship Type="http://schemas.openxmlformats.org/officeDocument/2006/relationships/tableStyles" Target="/ppt/tableStyles.xml" Id="R46b2ebfb91274d71" /><Relationship Type="http://schemas.openxmlformats.org/officeDocument/2006/relationships/slide" Target="/ppt/slides/slide1.xml" Id="R3ba36044f1254e41" /><Relationship Type="http://schemas.openxmlformats.org/officeDocument/2006/relationships/slide" Target="/ppt/slides/slide2.xml" Id="Rc3d980d7f7ce4a33" /><Relationship Type="http://schemas.openxmlformats.org/officeDocument/2006/relationships/slide" Target="/ppt/slides/slide3.xml" Id="Re9fa8046a5ca4f9e" /><Relationship Type="http://schemas.openxmlformats.org/officeDocument/2006/relationships/slide" Target="/ppt/slides/slide4.xml" Id="R0b343b8952074b89" /><Relationship Type="http://schemas.openxmlformats.org/officeDocument/2006/relationships/slide" Target="/ppt/slides/slide5.xml" Id="R55eb63ff72ae4733" /><Relationship Type="http://schemas.openxmlformats.org/officeDocument/2006/relationships/slide" Target="/ppt/slides/slide6.xml" Id="R21cf46b974ca4074" /><Relationship Type="http://schemas.openxmlformats.org/officeDocument/2006/relationships/slide" Target="/ppt/slides/slide7.xml" Id="Rd0cc660e2f3b46a0" /><Relationship Type="http://schemas.openxmlformats.org/officeDocument/2006/relationships/slide" Target="/ppt/slides/slide8.xml" Id="R1e290c253dd1491f" /><Relationship Type="http://schemas.openxmlformats.org/officeDocument/2006/relationships/slide" Target="/ppt/slides/slide9.xml" Id="Rad95d44ccfe74d55" /><Relationship Type="http://schemas.openxmlformats.org/officeDocument/2006/relationships/slide" Target="/ppt/slides/slide10.xml" Id="R0a165216189b40ff" /><Relationship Type="http://schemas.openxmlformats.org/officeDocument/2006/relationships/slide" Target="/ppt/slides/slide11.xml" Id="Rf2d1b6ab884247b1" /><Relationship Type="http://schemas.openxmlformats.org/officeDocument/2006/relationships/slide" Target="/ppt/slides/slide12.xml" Id="R95ad03d1e57246c9" /><Relationship Type="http://schemas.openxmlformats.org/officeDocument/2006/relationships/slide" Target="/ppt/slides/slide13.xml" Id="R98787e7314c44f0b" /><Relationship Type="http://schemas.openxmlformats.org/officeDocument/2006/relationships/slide" Target="/ppt/slides/slide14.xml" Id="R0e8ba42fa93842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e755831c9a42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a7ccc23e504527" /><Relationship Type="http://schemas.openxmlformats.org/officeDocument/2006/relationships/notesMaster" Target="/ppt/notesMasters/notesMaster1.xml" Id="Re9400efb4c554d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8a7d63d9404e1a" /><Relationship Type="http://schemas.openxmlformats.org/officeDocument/2006/relationships/notesMaster" Target="/ppt/notesMasters/notesMaster1.xml" Id="R99ea282cb9844ad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6939f27e4c4bb8" /><Relationship Type="http://schemas.openxmlformats.org/officeDocument/2006/relationships/notesMaster" Target="/ppt/notesMasters/notesMaster1.xml" Id="R8d040ccc581a48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bbdef5c5844ed6" /><Relationship Type="http://schemas.openxmlformats.org/officeDocument/2006/relationships/notesMaster" Target="/ppt/notesMasters/notesMaster1.xml" Id="Rf47646472d2f4a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3bb2aa70fa443cb" /><Relationship Type="http://schemas.openxmlformats.org/officeDocument/2006/relationships/notesMaster" Target="/ppt/notesMasters/notesMaster1.xml" Id="R1c6e53c41a0b4b9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33c95543c414256" /><Relationship Type="http://schemas.openxmlformats.org/officeDocument/2006/relationships/notesMaster" Target="/ppt/notesMasters/notesMaster1.xml" Id="R6f764949add3483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3c72362712843ad" /><Relationship Type="http://schemas.openxmlformats.org/officeDocument/2006/relationships/notesMaster" Target="/ppt/notesMasters/notesMaster1.xml" Id="R19540187a4324b9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cd5bbe6a8ac4c05" /><Relationship Type="http://schemas.openxmlformats.org/officeDocument/2006/relationships/notesMaster" Target="/ppt/notesMasters/notesMaster1.xml" Id="Rd228de41a1a44e5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f7fc4053154471c" /><Relationship Type="http://schemas.openxmlformats.org/officeDocument/2006/relationships/notesMaster" Target="/ppt/notesMasters/notesMaster1.xml" Id="Rbe2e6aafa6fc48b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357c2e5f6634428" /><Relationship Type="http://schemas.openxmlformats.org/officeDocument/2006/relationships/notesMaster" Target="/ppt/notesMasters/notesMaster1.xml" Id="R7464afc863e24a9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01c2f397a594b0c" /><Relationship Type="http://schemas.openxmlformats.org/officeDocument/2006/relationships/notesMaster" Target="/ppt/notesMasters/notesMaster1.xml" Id="R1457b257630c440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259029902094072" /><Relationship Type="http://schemas.openxmlformats.org/officeDocument/2006/relationships/notesMaster" Target="/ppt/notesMasters/notesMaster1.xml" Id="Rc35f096a2ccd491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d9a06ff26ac4a64" /><Relationship Type="http://schemas.openxmlformats.org/officeDocument/2006/relationships/notesMaster" Target="/ppt/notesMasters/notesMaster1.xml" Id="Rb66d3d6d6840427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11d8113d98b413e" /><Relationship Type="http://schemas.openxmlformats.org/officeDocument/2006/relationships/notesMaster" Target="/ppt/notesMasters/notesMaster1.xml" Id="Re138f0c259b44e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Team names, IDs and guide reproduced from the supplied template. The title describes the implemented enrollment and academic management system.</a:t>
            </a:r>
          </a:p>
          <a:p xmlns:a="http://schemas.openxmlformats.org/drawingml/2006/main">
            <a:r>
              <a:t>Source: Student Portal Pro v3 source code and project documentation, supplied Backend handout(3).pdf.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Team details retained from the source Review 1.</a:t>
            </a:r>
          </a:p>
          <a:p xmlns:a="http://schemas.openxmlformats.org/drawingml/2006/main">
            <a:r>
              <a:t>Source: Student Portal Pro v3 source code and project documentation, supplied Backend handout(3).pdf.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system centralizes student course enrollment and academic records.</a:t>
            </a:r>
          </a:p>
          <a:p xmlns:a="http://schemas.openxmlformats.org/drawingml/2006/main">
            <a:r>
              <a:t>Students select a cluster, choose compatible sections and review their timetable.</a:t>
            </a:r>
          </a:p>
          <a:p xmlns:a="http://schemas.openxmlformats.org/drawingml/2006/main">
            <a:r>
              <a:t>The backend validates eligibility and available seats before saving enrollment.</a:t>
            </a:r>
          </a:p>
          <a:p xmlns:a="http://schemas.openxmlformats.org/drawingml/2006/main">
            <a:r>
              <a:t>Administrators manage student courses, marks, attendance and official CGPA.</a:t>
            </a:r>
          </a:p>
          <a:p xmlns:a="http://schemas.openxmlformats.org/drawingml/2006/main">
            <a:r>
              <a:t>React connects to a Node.js/Express REST API backed by MySQL.</a:t>
            </a:r>
          </a:p>
          <a:p xmlns:a="http://schemas.openxmlformats.org/drawingml/2006/main">
            <a:r>
              <a:t>Source: Student Portal Pro v3 source code and project documentation, supplied Backend handout(3).pdf.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Course registration requires consistent information about students, sections and seats.</a:t>
            </a:r>
          </a:p>
          <a:p xmlns:a="http://schemas.openxmlformats.org/drawingml/2006/main">
            <a:r>
              <a:t>Manual coordination makes it difficult to check prerequisites and timetable conflicts.</a:t>
            </a:r>
          </a:p>
          <a:p xmlns:a="http://schemas.openxmlformats.org/drawingml/2006/main">
            <a:r>
              <a:t>A centralized portal gives students and administrators access to the same records.</a:t>
            </a:r>
          </a:p>
          <a:p xmlns:a="http://schemas.openxmlformats.org/drawingml/2006/main">
            <a:r>
              <a:t>Backend rules enforce registration decisions even when requests bypass the interface.</a:t>
            </a:r>
          </a:p>
          <a:p xmlns:a="http://schemas.openxmlformats.org/drawingml/2006/main">
            <a:r>
              <a:t>Persistent academic records support later review and reporting.</a:t>
            </a:r>
          </a:p>
          <a:p xmlns:a="http://schemas.openxmlformats.org/drawingml/2006/main">
            <a:r>
              <a:t>Source: Student Portal Pro v3 source code and project documentation, supplied Backend handout(3).pdf.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process limitations addressed by this project, not measurements of a specific institution’s existing system.</a:t>
            </a:r>
          </a:p>
          <a:p xmlns:a="http://schemas.openxmlformats.org/drawingml/2006/main">
            <a:r>
              <a:t>Source: Student Portal Pro v3 source code and project documentation, supplied Backend handout(3).pdf.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Prevent duplicate registrations and enrollment beyond section capacity.</a:t>
            </a:r>
          </a:p>
          <a:p xmlns:a="http://schemas.openxmlformats.org/drawingml/2006/main">
            <a:r>
              <a:t>Reject courses with missing prerequisites or timetable conflicts.</a:t>
            </a:r>
          </a:p>
          <a:p xmlns:a="http://schemas.openxmlformats.org/drawingml/2006/main">
            <a:r>
              <a:t>Keep each student’s course selections within one semester cluster.</a:t>
            </a:r>
          </a:p>
          <a:p xmlns:a="http://schemas.openxmlformats.org/drawingml/2006/main">
            <a:r>
              <a:t>Restrict academic changes to authorized administrators.</a:t>
            </a:r>
          </a:p>
          <a:p xmlns:a="http://schemas.openxmlformats.org/drawingml/2006/main">
            <a:r>
              <a:t>Maintain consistent course, grade and attendance records in the database.</a:t>
            </a:r>
          </a:p>
          <a:p xmlns:a="http://schemas.openxmlformats.org/drawingml/2006/main">
            <a:r>
              <a:t>Source: Student Portal Pro v3 source code and project documentation, supplied Backend handout(3).pdf.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Build a React portal with separate student and administrator workflows.</a:t>
            </a:r>
          </a:p>
          <a:p xmlns:a="http://schemas.openxmlformats.org/drawingml/2006/main">
            <a:r>
              <a:t>Use Express routes and services to enforce academic rules.</a:t>
            </a:r>
          </a:p>
          <a:p xmlns:a="http://schemas.openxmlformats.org/drawingml/2006/main">
            <a:r>
              <a:t>Store related academic records in MySQL with foreign keys and constraints.</a:t>
            </a:r>
          </a:p>
          <a:p xmlns:a="http://schemas.openxmlformats.org/drawingml/2006/main">
            <a:r>
              <a:t>Use transactions and row locks for enrollment and waitlist promotion.</a:t>
            </a:r>
          </a:p>
          <a:p xmlns:a="http://schemas.openxmlformats.org/drawingml/2006/main">
            <a:r>
              <a:t>Protect requests with JWT authentication and role-based permissions.</a:t>
            </a:r>
          </a:p>
          <a:p xmlns:a="http://schemas.openxmlformats.org/drawingml/2006/main">
            <a:r>
              <a:t>Source: Student Portal Pro v3 source code and project documentation, supplied Backend handout(3).pdf.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Provide a complete course enrollment workflow with persistent records.</a:t>
            </a:r>
          </a:p>
          <a:p xmlns:a="http://schemas.openxmlformats.org/drawingml/2006/main">
            <a:r>
              <a:t>Enforce cluster consistency, prerequisites and the semester credit limit.</a:t>
            </a:r>
          </a:p>
          <a:p xmlns:a="http://schemas.openxmlformats.org/drawingml/2006/main">
            <a:r>
              <a:t>Support timetable generation and academic progress tracking.</a:t>
            </a:r>
          </a:p>
          <a:p xmlns:a="http://schemas.openxmlformats.org/drawingml/2006/main">
            <a:r>
              <a:t>Give administrators grade, attendance and official CGPA controls.</a:t>
            </a:r>
          </a:p>
          <a:p xmlns:a="http://schemas.openxmlformats.org/drawingml/2006/main">
            <a:r>
              <a:t>Document REST endpoints and prepare repeatable API tests in Postman.</a:t>
            </a:r>
          </a:p>
          <a:p xmlns:a="http://schemas.openxmlformats.org/drawingml/2006/main">
            <a:r>
              <a:t>Source: Student Portal Pro v3 source code and project documentation, supplied Backend handout(3).pdf.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modules correspond to the implemented React pages and Express route/service files.</a:t>
            </a:r>
          </a:p>
          <a:p xmlns:a="http://schemas.openxmlformats.org/drawingml/2006/main">
            <a:r>
              <a:t>Source: Student Portal Pro v3 source code and project documentation, supplied Backend handout(3).pdf.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Only technologies used by the current project or its supplied demonstration workflow appear here. MySQL Workbench is a client, while MySQL Community Server runs the database.</a:t>
            </a:r>
          </a:p>
          <a:p xmlns:a="http://schemas.openxmlformats.org/drawingml/2006/main">
            <a:r>
              <a:t>Source: Student Portal Pro v3 source code and project documentation, supplied Backend handout(3).pdf.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project provides a consistent backend for enrollment and academic administration.</a:t>
            </a:r>
          </a:p>
          <a:p xmlns:a="http://schemas.openxmlformats.org/drawingml/2006/main">
            <a:r>
              <a:t>Server validation and transactions protect student registration records.</a:t>
            </a:r>
          </a:p>
          <a:p xmlns:a="http://schemas.openxmlformats.org/drawingml/2006/main">
            <a:r>
              <a:t>Cluster rules and role permissions organize student and administrator workflows.</a:t>
            </a:r>
          </a:p>
          <a:p xmlns:a="http://schemas.openxmlformats.org/drawingml/2006/main">
            <a:r>
              <a:t>Future work includes institutional login integration and operational backups.</a:t>
            </a:r>
          </a:p>
          <a:p xmlns:a="http://schemas.openxmlformats.org/drawingml/2006/main">
            <a:r>
              <a:t>Deployment automation and workload testing can support a later production release.</a:t>
            </a:r>
          </a:p>
          <a:p xmlns:a="http://schemas.openxmlformats.org/drawingml/2006/main">
            <a:r>
              <a:t>Source: Student Portal Pro v3 source code and project documentation, supplied Backend handout(3).pdf.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Outcome evidence is demonstrated live. No performance improvement percentage or user adoption figure has been measured.</a:t>
            </a:r>
          </a:p>
          <a:p xmlns:a="http://schemas.openxmlformats.org/drawingml/2006/main">
            <a:r>
              <a:t>Source: Student Portal Pro v3 source code and project documentation, supplied Backend handout(3).pdf.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Repository supplied by the user. Documentation and demonstration plan describe available materials and intended evaluation evidence.</a:t>
            </a:r>
          </a:p>
          <a:p xmlns:a="http://schemas.openxmlformats.org/drawingml/2006/main">
            <a:r>
              <a:t>Source: Student Portal Pro v3 source code and project documentation, supplied Backend handout(3).pdf.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Questions and live demonstration.</a:t>
            </a:r>
          </a:p>
          <a:p xmlns:a="http://schemas.openxmlformats.org/drawingml/2006/main">
            <a:r>
              <a:t>Source: Student Portal Pro v3 source code and project documentation, supplied Backend handout(3).pdf.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b246b55ea741f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757fcc03cb4de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d62dcc5b584be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0cf6e2c58b40b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293e45fee0487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605fed783140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775C862-EFB7-4375-9ACD-AB188A3C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B6A7E6A-72BC-492C-95A0-04A3418E05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B6601BD4-4987-4E1D-B1EC-38E6487E049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4BB525B3-2C31-44B8-BA9C-BAFD52A2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266D31B-688C-4E86-8F0B-FB2E9DDB9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667FFC7E-490D-48F4-B26A-783F827C7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79F49C4-04C8-416A-85D2-89720FECB8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91275938-3595-4658-9351-B5EBCFE646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9DDAC69-00E5-4193-8375-FE1F2FD43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4BB18EF-309F-4289-850C-74392DFF84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D586022-B66D-4FCB-9FBB-522E71407D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B1E625D-E49E-4382-8B4A-54AE1D108AD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55A095E4-613C-48FF-8CD4-A7C31CB3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77F6189-2C2D-4E7D-93CB-7FD2318C89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B875258-0F6B-48CD-B4AB-F97AD215E2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9530947d8148a6" /><Relationship Type="http://schemas.openxmlformats.org/officeDocument/2006/relationships/slideLayout" Target="/ppt/slideLayouts/slideLayout1.xml" Id="Rdcf69f79e3c34ceb" /><Relationship Type="http://schemas.openxmlformats.org/officeDocument/2006/relationships/slideLayout" Target="/ppt/slideLayouts/slideLayout2.xml" Id="R911ad5e3c050480a" /><Relationship Type="http://schemas.openxmlformats.org/officeDocument/2006/relationships/slideLayout" Target="/ppt/slideLayouts/slideLayout3.xml" Id="R5de9cefb0d29435b" /><Relationship Type="http://schemas.openxmlformats.org/officeDocument/2006/relationships/slideLayout" Target="/ppt/slideLayouts/slideLayout4.xml" Id="R1c634bda215549e7" /><Relationship Type="http://schemas.openxmlformats.org/officeDocument/2006/relationships/slideLayout" Target="/ppt/slideLayouts/slideLayout5.xml" Id="R5cd73a2415e14348" /><Relationship Type="http://schemas.openxmlformats.org/officeDocument/2006/relationships/slideLayout" Target="/ppt/slideLayouts/slideLayout6.xml" Id="R7fdebc80cf7f40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f69f79e3c34ceb"/>
    <p:sldLayoutId xmlns:r="http://schemas.openxmlformats.org/officeDocument/2006/relationships" id="2147483650" r:id="R911ad5e3c050480a"/>
    <p:sldLayoutId xmlns:r="http://schemas.openxmlformats.org/officeDocument/2006/relationships" id="2147483651" r:id="R5de9cefb0d29435b"/>
    <p:sldLayoutId xmlns:r="http://schemas.openxmlformats.org/officeDocument/2006/relationships" id="2147483652" r:id="R1c634bda215549e7"/>
    <p:sldLayoutId xmlns:r="http://schemas.openxmlformats.org/officeDocument/2006/relationships" id="2147483653" r:id="R5cd73a2415e14348"/>
    <p:sldLayoutId xmlns:r="http://schemas.openxmlformats.org/officeDocument/2006/relationships" id="2147483654" r:id="R7fdebc80cf7f40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42f6d0bfa64618" /><Relationship Type="http://schemas.openxmlformats.org/officeDocument/2006/relationships/image" Target="/ppt/media/image.png" Id="R202fa9e33dcf43fe" /><Relationship Type="http://schemas.openxmlformats.org/officeDocument/2006/relationships/notesSlide" Target="/ppt/notesSlides/notesSlide1.xml" Id="R0a5eb6a2aee241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378f8fafcf450b" /><Relationship Type="http://schemas.openxmlformats.org/officeDocument/2006/relationships/image" Target="/ppt/media/image2.png" Id="R4294b8e9991d4eb9" /><Relationship Type="http://schemas.openxmlformats.org/officeDocument/2006/relationships/notesSlide" Target="/ppt/notesSlides/notesSlide2.xml" Id="Re429fd5dfab34a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19de98cbb44196" /><Relationship Type="http://schemas.openxmlformats.org/officeDocument/2006/relationships/image" Target="/ppt/media/image3.png" Id="R3c3f3f3f39c94e8c" /><Relationship Type="http://schemas.openxmlformats.org/officeDocument/2006/relationships/notesSlide" Target="/ppt/notesSlides/notesSlide3.xml" Id="R0c73114dd9f6469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37361adf8f4285" /><Relationship Type="http://schemas.openxmlformats.org/officeDocument/2006/relationships/image" Target="/ppt/media/image4.png" Id="R414c94f197e44620" /><Relationship Type="http://schemas.openxmlformats.org/officeDocument/2006/relationships/notesSlide" Target="/ppt/notesSlides/notesSlide4.xml" Id="R92c4d22346d847a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1b9344d05644d8" /><Relationship Type="http://schemas.openxmlformats.org/officeDocument/2006/relationships/image" Target="/ppt/media/image5.png" Id="R83f3dabfbcec4dd1" /><Relationship Type="http://schemas.openxmlformats.org/officeDocument/2006/relationships/notesSlide" Target="/ppt/notesSlides/notesSlide5.xml" Id="R59687b6de84543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ec5cc0e3b24fca" /><Relationship Type="http://schemas.openxmlformats.org/officeDocument/2006/relationships/image" Target="/ppt/media/image6.png" Id="Rd40ab17634b14dd7" /><Relationship Type="http://schemas.openxmlformats.org/officeDocument/2006/relationships/notesSlide" Target="/ppt/notesSlides/notesSlide6.xml" Id="R5bc7a5c8213b4b3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07436036714d2a" /><Relationship Type="http://schemas.openxmlformats.org/officeDocument/2006/relationships/image" Target="/ppt/media/image7.png" Id="Rdef3f434645044a0" /><Relationship Type="http://schemas.openxmlformats.org/officeDocument/2006/relationships/notesSlide" Target="/ppt/notesSlides/notesSlide7.xml" Id="R061efd0609144b5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2eb5a05cd74e5e" /><Relationship Type="http://schemas.openxmlformats.org/officeDocument/2006/relationships/image" Target="/ppt/media/image8.png" Id="R0b7f96c0f4ff40ac" /><Relationship Type="http://schemas.openxmlformats.org/officeDocument/2006/relationships/notesSlide" Target="/ppt/notesSlides/notesSlide8.xml" Id="Ra17827be3f8241e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4b66bded244fa0" /><Relationship Type="http://schemas.openxmlformats.org/officeDocument/2006/relationships/image" Target="/ppt/media/image9.png" Id="Re827ebabc2754607" /><Relationship Type="http://schemas.openxmlformats.org/officeDocument/2006/relationships/notesSlide" Target="/ppt/notesSlides/notesSlide9.xml" Id="R809cbe621bac41b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abae67ec3249ff" /><Relationship Type="http://schemas.openxmlformats.org/officeDocument/2006/relationships/image" Target="/ppt/media/image10.png" Id="Rf7449f6c6b4b4c8e" /><Relationship Type="http://schemas.openxmlformats.org/officeDocument/2006/relationships/notesSlide" Target="/ppt/notesSlides/notesSlide10.xml" Id="R8d1b0b3e05e243a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dfee65f2424bdb" /><Relationship Type="http://schemas.openxmlformats.org/officeDocument/2006/relationships/image" Target="/ppt/media/image11.png" Id="R719a7201186a4f5a" /><Relationship Type="http://schemas.openxmlformats.org/officeDocument/2006/relationships/notesSlide" Target="/ppt/notesSlides/notesSlide11.xml" Id="R208e06556f49440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304ec68e2d4ecb" /><Relationship Type="http://schemas.openxmlformats.org/officeDocument/2006/relationships/image" Target="/ppt/media/image12.png" Id="Re366a5c848764dad" /><Relationship Type="http://schemas.openxmlformats.org/officeDocument/2006/relationships/notesSlide" Target="/ppt/notesSlides/notesSlide12.xml" Id="Rfd5a7acaa8b445c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1705420918439a" /><Relationship Type="http://schemas.openxmlformats.org/officeDocument/2006/relationships/image" Target="/ppt/media/image13.png" Id="Rb8bd07601aab448f" /><Relationship Type="http://schemas.openxmlformats.org/officeDocument/2006/relationships/notesSlide" Target="/ppt/notesSlides/notesSlide13.xml" Id="R850a11412a35415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373d3192264a30" /><Relationship Type="http://schemas.openxmlformats.org/officeDocument/2006/relationships/image" Target="/ppt/media/image14.png" Id="Rb7f5a5c8e45b4602" /><Relationship Type="http://schemas.openxmlformats.org/officeDocument/2006/relationships/notesSlide" Target="/ppt/notesSlides/notesSlide14.xml" Id="R829afaeda1954fa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4BF6E8-9201-4B77-8B5C-CD544DD0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1st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8D268B-E3DB-4A81-BDBB-8DA8C48A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105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Student Course Enrollment and Academic Management System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2028825" y="1676400"/>
          <a:ext xmlns:a="http://schemas.openxmlformats.org/drawingml/2006/main" cx="8134350" cy="1123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67175"/>
                <a:gridCol w="4067175"/>
              </a:tblGrid>
              <a:tr h="374650">
                <a:tc>
                  <a:txBody>
                    <a:bodyPr lIns="76200" tIns="47625" rIns="76200" bIns="38100"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V. ABHIDEV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38100"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2520030325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4650">
                <a:tc>
                  <a:txBody>
                    <a:bodyPr lIns="76200" tIns="47625" rIns="76200" bIns="38100"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TEJ PRATAP SINGH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38100"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2520030476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4650">
                <a:tc>
                  <a:txBody>
                    <a:bodyPr lIns="76200" tIns="47625" rIns="76200" bIns="38100"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G. SHASHANK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38100"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2520030495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B6A880-6D84-496F-AAA2-93301916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00400"/>
            <a:ext cx="552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Under the Guidance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89A8B7-F2D7-44E9-A2F9-9AA387D7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86200"/>
            <a:ext cx="552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Dr. Y Subbarayudu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08100C-6FE7-4D11-ADDA-EA363DC4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67200"/>
            <a:ext cx="742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Assistant Professor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Department of Computer Science and Engineering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2fa9e33dcf43fe"/>
          <a:stretch xmlns:a="http://schemas.openxmlformats.org/drawingml/2006/main"/>
        </p:blipFill>
        <p:spPr>
          <a:xfrm xmlns:a="http://schemas.openxmlformats.org/drawingml/2006/main">
            <a:off x="4953000" y="5008515"/>
            <a:ext cx="2714625" cy="101292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F99506-8E2B-46AA-84C2-CBE36607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124575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KONERU LAKSHMAIAH EDUCATION FOUNDATION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F512FE-5336-41E6-9866-D855ED711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865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98359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94b8e9991d4eb9"/>
          <a:stretch xmlns:a="http://schemas.openxmlformats.org/drawingml/2006/main"/>
        </p:blipFill>
        <p:spPr>
          <a:xfrm xmlns:a="http://schemas.openxmlformats.org/drawingml/2006/main">
            <a:off x="1270" y="0"/>
            <a:ext cx="1616710" cy="6381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730BC1-6D11-4DFE-80BC-0B1073FB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28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Team Members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96E3D5-E546-4BC5-99A7-80CF3CAA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865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4D014B-6D6D-4029-A35C-09D6DB07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6207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V. ABHIDEV                                                  2520030325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038B38-1C55-43EC-B8A0-9D886485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TEJ PRATAP SINGH                                    2520030476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372860-59AB-4B22-8077-92C1F173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2417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G. SHASHANK                                             2520030495</a:t>
            </a:r>
          </a:p>
        </p:txBody>
      </p:sp>
    </p:spTree>
    <p:extLst>
      <p:ext uri="{BB962C8B-B14F-4D97-AF65-F5344CB8AC3E}">
        <p14:creationId xmlns:p14="http://schemas.microsoft.com/office/powerpoint/2010/main" val="18852309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3f3f3f39c94e8c"/>
          <a:stretch xmlns:a="http://schemas.openxmlformats.org/drawingml/2006/main"/>
        </p:blipFill>
        <p:spPr>
          <a:xfrm xmlns:a="http://schemas.openxmlformats.org/drawingml/2006/main">
            <a:off x="1270" y="0"/>
            <a:ext cx="1616710" cy="6381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6A6741-C61D-4426-83EC-B2866A1AC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28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Abstract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E4029B-45FB-4D42-83DE-EB98EA93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865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8637B7-50D2-4B5D-BC97-83C1A5FD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6207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The system centralizes student course enrollment and academic records. The same database supports student and administrator views.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2A0D8B-364D-473B-ADD6-AC3BAB507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Students select a cluster, choose compatible sections and review their timetable. Four clusters contain section groups arranged as 2, 3, 2 and 3.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91AA80-5883-42FF-BEEB-8C59D49C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2417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The backend validates eligibility and available seats before saving enrollment. Checks include prerequisites, the 24-credit limit and timetable conflicts.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A17716-20D3-4FFA-9599-976E3682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0522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Administrators manage student courses, marks, attendance and official CGPA. Official CGPA changes require an administrative reason.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C4E010-7D64-4D76-9AB1-65B404A2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8627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React connects to a Node.js/Express REST API backed by MySQL. REST endpoints return JSON responses for the interface.</a:t>
            </a:r>
          </a:p>
        </p:txBody>
      </p:sp>
    </p:spTree>
    <p:extLst>
      <p:ext uri="{BB962C8B-B14F-4D97-AF65-F5344CB8AC3E}">
        <p14:creationId xmlns:p14="http://schemas.microsoft.com/office/powerpoint/2010/main" val="18684301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4c94f197e44620"/>
          <a:stretch xmlns:a="http://schemas.openxmlformats.org/drawingml/2006/main"/>
        </p:blipFill>
        <p:spPr>
          <a:xfrm xmlns:a="http://schemas.openxmlformats.org/drawingml/2006/main">
            <a:off x="1270" y="0"/>
            <a:ext cx="1616710" cy="6381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8C8C13-3B73-4FEC-833B-40741442F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28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Introduction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502435-B462-4A0E-A393-35E59BE8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865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D2F3A2-2E2E-495D-BB6D-CCDBB103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6207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Course registration requires consistent information about students, sections and seats. Course sections carry schedules, instructors and capacity information.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E76B63-57D5-4B60-9360-B3DCF934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Manual coordination makes it difficult to check prerequisites and timetable conflicts. Students need clear reasons when a registration request fails.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8DBFA1-4625-435C-AFBD-5C3B2CAE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2417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 centralized portal gives students and administrators access to the same records. Students view personal data while administrators manage authorized records.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283FE4-9954-4FB6-B1CE-F4FE1D9D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0522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Backend rules enforce registration decisions even when requests bypass the interface. The API checks each request before executing database writes.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6D2C82-DD52-4BF6-98AC-5601BE1E1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8627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Persistent academic records support later review and reporting. Stored results also support academic summaries and rankings.</a:t>
            </a:r>
          </a:p>
        </p:txBody>
      </p:sp>
    </p:spTree>
    <p:extLst>
      <p:ext uri="{BB962C8B-B14F-4D97-AF65-F5344CB8AC3E}">
        <p14:creationId xmlns:p14="http://schemas.microsoft.com/office/powerpoint/2010/main" val="8831166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f3dabfbcec4dd1"/>
          <a:stretch xmlns:a="http://schemas.openxmlformats.org/drawingml/2006/main"/>
        </p:blipFill>
        <p:spPr>
          <a:xfrm xmlns:a="http://schemas.openxmlformats.org/drawingml/2006/main">
            <a:off x="1270" y="0"/>
            <a:ext cx="1616710" cy="6381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A39744-00CA-411C-B883-15AAAEBA9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28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Existing Process and Limitations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3984C7-6B7A-4A4E-8128-DF134A33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865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6FA4E4-6D2B-407A-9753-9387FDB2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6207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Spreadsheet-based records require manual updates across separate files. Repeated edits can leave student and course records inconsistent.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852AA8-EE31-490B-A82C-FC134DAEC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Registration checks can depend on staff reviewing each student’s eligibility. A missing prerequisite or overlapping class can escape a manual check.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8DFEA2-9454-458C-9170-406E1A92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2417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Separate grade and enrollment records can make academic tracking difficult. Administrators need to relate published grades to the registered courses.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76CC3B-1828-446A-860A-8763F4C9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0522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 frontend-only application cannot reliably enforce seats or access permissions. API validation protects the same rules when a client sends a direct request.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E24C6F-AC87-43CA-B3FB-683031A4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8627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Administrative changes need a traceable history for later review. Audit records help explain who changed an academic value and why.</a:t>
            </a:r>
          </a:p>
        </p:txBody>
      </p:sp>
    </p:spTree>
    <p:extLst>
      <p:ext uri="{BB962C8B-B14F-4D97-AF65-F5344CB8AC3E}">
        <p14:creationId xmlns:p14="http://schemas.microsoft.com/office/powerpoint/2010/main" val="7485747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0ab17634b14dd7"/>
          <a:stretch xmlns:a="http://schemas.openxmlformats.org/drawingml/2006/main"/>
        </p:blipFill>
        <p:spPr>
          <a:xfrm xmlns:a="http://schemas.openxmlformats.org/drawingml/2006/main">
            <a:off x="1270" y="0"/>
            <a:ext cx="1616710" cy="6381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A62C70-07B2-48B0-94BD-FD72ED48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28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Problem Statement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EFF9B9-875B-484B-A4EB-CB9A4E1E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865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A53A9F-908C-476F-8BAF-02EABC5F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6207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Prevent duplicate registrations and enrollment beyond section capacity. The database must preserve valid student and course relationships.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CD41A0-89D8-488E-A59E-05F8379CE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Reject courses with missing prerequisites or timetable conflicts. Students receive an explanation when the requested registration is invalid.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FFAF7B-3F60-4FD7-BDD8-678593CC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2417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Keep each student’s course selections within one semester cluster. A locked choice applies to every subject in the same semester.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EADECA-9AC3-465D-AE9B-2449B613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0522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Restrict academic changes to authorized administrators. Student requests cannot perform administrator-only operations.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517BA4-A9FA-4576-B045-9FC15EC93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8627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Maintain consistent course, grade and attendance records in the database. Related changes must succeed together or roll back together.</a:t>
            </a:r>
          </a:p>
        </p:txBody>
      </p:sp>
    </p:spTree>
    <p:extLst>
      <p:ext uri="{BB962C8B-B14F-4D97-AF65-F5344CB8AC3E}">
        <p14:creationId xmlns:p14="http://schemas.microsoft.com/office/powerpoint/2010/main" val="12538313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f3f434645044a0"/>
          <a:stretch xmlns:a="http://schemas.openxmlformats.org/drawingml/2006/main"/>
        </p:blipFill>
        <p:spPr>
          <a:xfrm xmlns:a="http://schemas.openxmlformats.org/drawingml/2006/main">
            <a:off x="1270" y="0"/>
            <a:ext cx="1616710" cy="6381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8A2AE0-92D5-43DE-8A2C-FC7A7B10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28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Proposed Solution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2F564D-BABB-4C51-9B11-93BEFDE6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865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5A442C-946E-42A9-AE54-B807B2D77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6207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Build a React portal with separate student and administrator workflows. The portal presents personal academic details and administrative summaries.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8B8233-1361-4064-81DA-009787E2A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Use Express routes and services to enforce academic rules. Routes handle HTTP requests and services apply enrollment decisions.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501B9F-62E2-417E-A0ED-FF76AC1D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2417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Store related academic records in MySQL with foreign keys and constraints. The schema separates accounts, offerings, enrollments and academic results.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E62B18-4837-4318-9534-9279780C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0522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Use transactions and row locks for enrollment and waitlist promotion. A released seat triggers another eligibility check before promotion.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4947A6-5C55-4B8A-A650-112A16F8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8627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Protect requests with JWT authentication and role-based permissions. Passwords use salted hashes and protected requests carry a Bearer token.</a:t>
            </a:r>
          </a:p>
        </p:txBody>
      </p:sp>
    </p:spTree>
    <p:extLst>
      <p:ext uri="{BB962C8B-B14F-4D97-AF65-F5344CB8AC3E}">
        <p14:creationId xmlns:p14="http://schemas.microsoft.com/office/powerpoint/2010/main" val="5483362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7f96c0f4ff40ac"/>
          <a:stretch xmlns:a="http://schemas.openxmlformats.org/drawingml/2006/main"/>
        </p:blipFill>
        <p:spPr>
          <a:xfrm xmlns:a="http://schemas.openxmlformats.org/drawingml/2006/main">
            <a:off x="1270" y="0"/>
            <a:ext cx="1616710" cy="6381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C3983A-F1FB-4453-BDB9-2BC219E81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28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Project Objectives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4BA72B-AA59-4E28-8A2B-760149DA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865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28E17C-ED19-444C-92BC-D102B635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6207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Provide a complete course enrollment workflow with persistent records. Students can select sections and inspect the saved timetable.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FD3E19-FA35-4A53-B54E-E66E0247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Enforce cluster consistency, prerequisites and the semester credit limit. Validation runs on the backend for every enrollment request.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0FC86D-D59B-4A4E-AF2B-6E9FB4A1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2417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Support timetable generation and academic progress tracking. Published results produce GPA values weighted by course credits.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106547-C5C3-40A0-9AAE-EB398FAE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0522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Give administrators grade, attendance and official CGPA controls. The directory connects each student with their enrolled subjects.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659D32-BDF7-45A1-88F3-AF7FE91B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8627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Document REST endpoints and prepare repeatable API tests in Postman. The OpenAPI contract describes supported endpoints and request structures.</a:t>
            </a:r>
          </a:p>
        </p:txBody>
      </p:sp>
    </p:spTree>
    <p:extLst>
      <p:ext uri="{BB962C8B-B14F-4D97-AF65-F5344CB8AC3E}">
        <p14:creationId xmlns:p14="http://schemas.microsoft.com/office/powerpoint/2010/main" val="16962862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27ebabc2754607"/>
          <a:stretch xmlns:a="http://schemas.openxmlformats.org/drawingml/2006/main"/>
        </p:blipFill>
        <p:spPr>
          <a:xfrm xmlns:a="http://schemas.openxmlformats.org/drawingml/2006/main">
            <a:off x="1270" y="0"/>
            <a:ext cx="1616710" cy="6381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F3FAC8-6846-48B8-A9A8-3AE1AAA8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28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System Modules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C61535-249C-44A6-8838-495A4698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865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9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19125" y="1428750"/>
          <a:ext xmlns:a="http://schemas.openxmlformats.org/drawingml/2006/main" cx="1095375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7905750"/>
              </a:tblGrid>
              <a:tr h="666750">
                <a:tc>
                  <a:txBody>
                    <a:bodyPr lIns="114300" tIns="95250" rIns="114300" bIns="76200"/>
                    <a:lstStyle/>
                    <a:p>
                      <a:r>
                        <a:rPr sz="1575" b="1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Module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1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Responsibility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Authentication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Login, JWT verification and student/admin permissions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Course enrollment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Catalog, sections, prerequisites, seats and waitlists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Clusters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Four clusters, section groups and locked student selections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Academic records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Grades, credit-weighted GPA and attendance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Administration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Student directory, official CGPA and academic change history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98171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449f6c6b4b4c8e"/>
          <a:stretch xmlns:a="http://schemas.openxmlformats.org/drawingml/2006/main"/>
        </p:blipFill>
        <p:spPr>
          <a:xfrm xmlns:a="http://schemas.openxmlformats.org/drawingml/2006/main">
            <a:off x="1270" y="0"/>
            <a:ext cx="1616710" cy="6381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8FC909-FF60-4B12-AE66-4B1584D9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28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Software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09D50E-E330-4BCA-9555-D52FE7F0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865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10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19125" y="1381125"/>
          <a:ext xmlns:a="http://schemas.openxmlformats.org/drawingml/2006/main" cx="10953750" cy="4238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3238500"/>
                <a:gridCol w="5381625"/>
              </a:tblGrid>
              <a:tr h="605518">
                <a:tc>
                  <a:txBody>
                    <a:bodyPr lIns="114300" tIns="95250" rIns="114300" bIns="76200"/>
                    <a:lstStyle/>
                    <a:p>
                      <a:r>
                        <a:rPr sz="1575" b="1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Layer or tool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1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Selected technology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1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Purpose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5518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Frontend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React and Vite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Student and administrator pages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5518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Backend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Node.js and Express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REST APIs and business rules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5518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Database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MySQL with mysql2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Relational storage and transactions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5518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API testing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Postman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Prepared requests and response checks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5518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Development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VS Code and GitHub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Editing, execution and version control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5518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Database inspection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MySQL Workbench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SQL queries and stored-record inspection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78607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9a7201186a4f5a"/>
          <a:stretch xmlns:a="http://schemas.openxmlformats.org/drawingml/2006/main"/>
        </p:blipFill>
        <p:spPr>
          <a:xfrm xmlns:a="http://schemas.openxmlformats.org/drawingml/2006/main">
            <a:off x="1270" y="0"/>
            <a:ext cx="1616710" cy="6381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305766-A472-4E89-BC7D-B42ABB38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28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Conclusion and Future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6DF7FA-9B31-44F4-88E0-4FCB77B0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865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8A1AA4-3F84-4ACC-B4F4-7B0BC06F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6207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The project provides a consistent backend for enrollment and academic administration. The student and admin workflows share persistent relational records.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274598-E37F-451F-9B92-FB919ACD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Server validation and transactions protect student registration records. Rejected requests leave no partial enrollment in the database.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A98AA7-4F81-4054-8D39-D8691A363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2417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Cluster rules and role permissions organize student and administrator workflows. Official CGPA updates include a reason and academic change history.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42A1BA-85EC-4B00-A6F8-804B74937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0522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Future work includes institutional login integration and operational backups. Backups should include tested restoration before wider deployment.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91F666-F180-49AF-BC7A-7154DC2E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8627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Deployment automation and workload testing can support a later production release. Future testing should cover Windows, MySQL and full browser workflows.</a:t>
            </a:r>
          </a:p>
        </p:txBody>
      </p:sp>
    </p:spTree>
    <p:extLst>
      <p:ext uri="{BB962C8B-B14F-4D97-AF65-F5344CB8AC3E}">
        <p14:creationId xmlns:p14="http://schemas.microsoft.com/office/powerpoint/2010/main" val="2298055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66a5c848764dad"/>
          <a:stretch xmlns:a="http://schemas.openxmlformats.org/drawingml/2006/main"/>
        </p:blipFill>
        <p:spPr>
          <a:xfrm xmlns:a="http://schemas.openxmlformats.org/drawingml/2006/main">
            <a:off x="1270" y="0"/>
            <a:ext cx="1616710" cy="6381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F1D01B-0804-4F04-9026-C170CDD1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28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Expected Outcomes and Evaluation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90D430-846B-41CF-8312-DB8EA06C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865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12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19125" y="1381125"/>
          <a:ext xmlns:a="http://schemas.openxmlformats.org/drawingml/2006/main" cx="109537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7715250"/>
              </a:tblGrid>
              <a:tr h="598714">
                <a:tc>
                  <a:txBody>
                    <a:bodyPr lIns="114300" tIns="95250" rIns="114300" bIns="76200"/>
                    <a:lstStyle/>
                    <a:p>
                      <a:r>
                        <a:rPr sz="1575" b="1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Expected outcome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1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Evidence for evaluation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Validated enrollment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Successful registration and a rejected incompatible request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Consistent cluster choice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My Cluster selection and a cross-cluster rejection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Academic administration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Student directory, enrolled subjects and official CGPA update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Persistent records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MySQL queries show the records used by the interface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Traceable operations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Enrollment audit and academic change history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Reproducible project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GitHub source, README, schema and setup instructions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416489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bd07601aab448f"/>
          <a:stretch xmlns:a="http://schemas.openxmlformats.org/drawingml/2006/main"/>
        </p:blipFill>
        <p:spPr>
          <a:xfrm xmlns:a="http://schemas.openxmlformats.org/drawingml/2006/main">
            <a:off x="1270" y="0"/>
            <a:ext cx="1616710" cy="6381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F350DC-C38A-425B-99E1-07E37E207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28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Project Documentation and Demonstration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1D2266-925B-465B-B7DA-3F027A89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865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13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19125" y="1381125"/>
          <a:ext xmlns:a="http://schemas.openxmlformats.org/drawingml/2006/main" cx="109537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7715250"/>
              </a:tblGrid>
              <a:tr h="598714">
                <a:tc>
                  <a:txBody>
                    <a:bodyPr lIns="114300" tIns="95250" rIns="114300" bIns="76200"/>
                    <a:lstStyle/>
                    <a:p>
                      <a:r>
                        <a:rPr sz="1575" b="1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Deliverable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1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Content and use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Review presentations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Problem definition, implementation and final project outcomes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README.md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Configuration, startup, credentials guidance and demo sequence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server/db/schema.sql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Relational schema, constraints, views and stored database logic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server/db/seed.js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Sample accounts, course offerings and academic records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Postman collection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Prepared requests for login, catalog, clusters and protected APIs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Live demonstration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Student action, administrator action and matching SQL record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C4151C-C520-4732-8EDF-F3576C08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388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Repository: github.com/Tejpratap-069/dbse-dbd-projects   Folder: Project</a:t>
            </a:r>
          </a:p>
        </p:txBody>
      </p:sp>
    </p:spTree>
    <p:extLst>
      <p:ext uri="{BB962C8B-B14F-4D97-AF65-F5344CB8AC3E}">
        <p14:creationId xmlns:p14="http://schemas.microsoft.com/office/powerpoint/2010/main" val="204080135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f5a5c8e45b4602"/>
          <a:stretch xmlns:a="http://schemas.openxmlformats.org/drawingml/2006/main"/>
        </p:blipFill>
        <p:spPr>
          <a:xfrm xmlns:a="http://schemas.openxmlformats.org/drawingml/2006/main">
            <a:off x="1270" y="0"/>
            <a:ext cx="1616710" cy="6381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4B69BD-7CD0-4DEF-A9DD-5A61373F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28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CD6A02-E4C9-440D-9A1D-E2B2CC93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865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1A71C2-47BF-404A-AC8F-6A67D277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86050"/>
            <a:ext cx="552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THANK YOU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AC8200-A479-4ED3-BE25-8D523450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38525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Questions and Live Demonstration</a:t>
            </a:r>
          </a:p>
        </p:txBody>
      </p:sp>
    </p:spTree>
    <p:extLst>
      <p:ext uri="{BB962C8B-B14F-4D97-AF65-F5344CB8AC3E}">
        <p14:creationId xmlns:p14="http://schemas.microsoft.com/office/powerpoint/2010/main" val="3465424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2026-10-03T02:53:45.2050000Z</dcterms:created>
  <dcterms:modified xsi:type="dcterms:W3CDTF">2026-10-03T02:53:45.2050000Z</dcterms:modified>
</coreProperties>
</file>