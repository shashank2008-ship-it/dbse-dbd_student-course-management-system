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f0af99e16a4c92" /><Relationship Type="http://schemas.openxmlformats.org/officeDocument/2006/relationships/extended-properties" Target="/docProps/app.xml" Id="Rf1092bdcdda94d26" /><Relationship Type="http://schemas.openxmlformats.org/officeDocument/2006/relationships/officeDocument" Target="/ppt/presentation.xml" Id="Rf99d1215f24f48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3656665f2e49b1"/>
  </p:sldMasterIdLst>
  <p:notesMasterIdLst>
    <p:notesMasterId xmlns:r="http://schemas.openxmlformats.org/officeDocument/2006/relationships" r:id="R5556a5a496ed476f"/>
  </p:notesMasterIdLst>
  <p:sldIdLst>
    <p:sldId xmlns:r="http://schemas.openxmlformats.org/officeDocument/2006/relationships" id="256" r:id="Rd52927e723c84a35"/>
    <p:sldId xmlns:r="http://schemas.openxmlformats.org/officeDocument/2006/relationships" id="257" r:id="R17cbd2820c104b17"/>
    <p:sldId xmlns:r="http://schemas.openxmlformats.org/officeDocument/2006/relationships" id="258" r:id="Ref1f9c5670424f7c"/>
    <p:sldId xmlns:r="http://schemas.openxmlformats.org/officeDocument/2006/relationships" id="259" r:id="R90f35d87884a4f04"/>
    <p:sldId xmlns:r="http://schemas.openxmlformats.org/officeDocument/2006/relationships" id="260" r:id="Rfbbb93146ceb4abb"/>
    <p:sldId xmlns:r="http://schemas.openxmlformats.org/officeDocument/2006/relationships" id="261" r:id="Rbf5e177977f74104"/>
    <p:sldId xmlns:r="http://schemas.openxmlformats.org/officeDocument/2006/relationships" id="262" r:id="R6b57a273203947a2"/>
    <p:sldId xmlns:r="http://schemas.openxmlformats.org/officeDocument/2006/relationships" id="263" r:id="R32c0d06b05c94101"/>
    <p:sldId xmlns:r="http://schemas.openxmlformats.org/officeDocument/2006/relationships" id="264" r:id="Rb7a98035c7464b25"/>
    <p:sldId xmlns:r="http://schemas.openxmlformats.org/officeDocument/2006/relationships" id="265" r:id="R022ec6a40a484dda"/>
    <p:sldId xmlns:r="http://schemas.openxmlformats.org/officeDocument/2006/relationships" id="266" r:id="R3ee54c0390354fd0"/>
    <p:sldId xmlns:r="http://schemas.openxmlformats.org/officeDocument/2006/relationships" id="267" r:id="Ra976e92abdd44aab"/>
    <p:sldId xmlns:r="http://schemas.openxmlformats.org/officeDocument/2006/relationships" id="268" r:id="Raac0d98abd144cd2"/>
    <p:sldId xmlns:r="http://schemas.openxmlformats.org/officeDocument/2006/relationships" id="269" r:id="R6b126752545141d3"/>
    <p:sldId xmlns:r="http://schemas.openxmlformats.org/officeDocument/2006/relationships" id="270" r:id="Rc84894fed45547ea"/>
    <p:sldId xmlns:r="http://schemas.openxmlformats.org/officeDocument/2006/relationships" id="271" r:id="R6d19941949364bbf"/>
    <p:sldId xmlns:r="http://schemas.openxmlformats.org/officeDocument/2006/relationships" id="272" r:id="Rc4874e4253454c9a"/>
    <p:sldId xmlns:r="http://schemas.openxmlformats.org/officeDocument/2006/relationships" id="273" r:id="R40231f6045624cd9"/>
    <p:sldId xmlns:r="http://schemas.openxmlformats.org/officeDocument/2006/relationships" id="274" r:id="R1cc2b34e83964b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79d441936b419f" /><Relationship Type="http://schemas.openxmlformats.org/officeDocument/2006/relationships/slideMaster" Target="/ppt/slideMasters/slideMaster1.xml" Id="Rbe3656665f2e49b1" /><Relationship Type="http://schemas.openxmlformats.org/officeDocument/2006/relationships/notesMaster" Target="/ppt/notesMasters/notesMaster1.xml" Id="R5556a5a496ed476f" /><Relationship Type="http://schemas.openxmlformats.org/officeDocument/2006/relationships/presProps" Target="/ppt/presProps.xml" Id="Rf7cc9c7d9e3c456a" /><Relationship Type="http://schemas.openxmlformats.org/officeDocument/2006/relationships/tableStyles" Target="/ppt/tableStyles.xml" Id="Re92100d818d64be7" /><Relationship Type="http://schemas.openxmlformats.org/officeDocument/2006/relationships/slide" Target="/ppt/slides/slide1.xml" Id="Rd52927e723c84a35" /><Relationship Type="http://schemas.openxmlformats.org/officeDocument/2006/relationships/slide" Target="/ppt/slides/slide2.xml" Id="R17cbd2820c104b17" /><Relationship Type="http://schemas.openxmlformats.org/officeDocument/2006/relationships/slide" Target="/ppt/slides/slide3.xml" Id="Ref1f9c5670424f7c" /><Relationship Type="http://schemas.openxmlformats.org/officeDocument/2006/relationships/slide" Target="/ppt/slides/slide4.xml" Id="R90f35d87884a4f04" /><Relationship Type="http://schemas.openxmlformats.org/officeDocument/2006/relationships/slide" Target="/ppt/slides/slide5.xml" Id="Rfbbb93146ceb4abb" /><Relationship Type="http://schemas.openxmlformats.org/officeDocument/2006/relationships/slide" Target="/ppt/slides/slide6.xml" Id="Rbf5e177977f74104" /><Relationship Type="http://schemas.openxmlformats.org/officeDocument/2006/relationships/slide" Target="/ppt/slides/slide7.xml" Id="R6b57a273203947a2" /><Relationship Type="http://schemas.openxmlformats.org/officeDocument/2006/relationships/slide" Target="/ppt/slides/slide8.xml" Id="R32c0d06b05c94101" /><Relationship Type="http://schemas.openxmlformats.org/officeDocument/2006/relationships/slide" Target="/ppt/slides/slide9.xml" Id="Rb7a98035c7464b25" /><Relationship Type="http://schemas.openxmlformats.org/officeDocument/2006/relationships/slide" Target="/ppt/slides/slide10.xml" Id="R022ec6a40a484dda" /><Relationship Type="http://schemas.openxmlformats.org/officeDocument/2006/relationships/slide" Target="/ppt/slides/slide11.xml" Id="R3ee54c0390354fd0" /><Relationship Type="http://schemas.openxmlformats.org/officeDocument/2006/relationships/slide" Target="/ppt/slides/slide12.xml" Id="Ra976e92abdd44aab" /><Relationship Type="http://schemas.openxmlformats.org/officeDocument/2006/relationships/slide" Target="/ppt/slides/slide13.xml" Id="Raac0d98abd144cd2" /><Relationship Type="http://schemas.openxmlformats.org/officeDocument/2006/relationships/slide" Target="/ppt/slides/slide14.xml" Id="R6b126752545141d3" /><Relationship Type="http://schemas.openxmlformats.org/officeDocument/2006/relationships/slide" Target="/ppt/slides/slide15.xml" Id="Rc84894fed45547ea" /><Relationship Type="http://schemas.openxmlformats.org/officeDocument/2006/relationships/slide" Target="/ppt/slides/slide16.xml" Id="R6d19941949364bbf" /><Relationship Type="http://schemas.openxmlformats.org/officeDocument/2006/relationships/slide" Target="/ppt/slides/slide17.xml" Id="Rc4874e4253454c9a" /><Relationship Type="http://schemas.openxmlformats.org/officeDocument/2006/relationships/slide" Target="/ppt/slides/slide18.xml" Id="R40231f6045624cd9" /><Relationship Type="http://schemas.openxmlformats.org/officeDocument/2006/relationships/slide" Target="/ppt/slides/slide19.xml" Id="R1cc2b34e83964b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81d3c947954a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ba185b01f445e0" /><Relationship Type="http://schemas.openxmlformats.org/officeDocument/2006/relationships/notesMaster" Target="/ppt/notesMasters/notesMaster1.xml" Id="R74f94897a04441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655c63babe4123" /><Relationship Type="http://schemas.openxmlformats.org/officeDocument/2006/relationships/notesMaster" Target="/ppt/notesMasters/notesMaster1.xml" Id="R6e18851b6a4140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96173387a64092" /><Relationship Type="http://schemas.openxmlformats.org/officeDocument/2006/relationships/notesMaster" Target="/ppt/notesMasters/notesMaster1.xml" Id="R81830fab170647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13d41bae2c4811" /><Relationship Type="http://schemas.openxmlformats.org/officeDocument/2006/relationships/notesMaster" Target="/ppt/notesMasters/notesMaster1.xml" Id="R01dd2423e0ab4d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c021fa2c0c4796" /><Relationship Type="http://schemas.openxmlformats.org/officeDocument/2006/relationships/notesMaster" Target="/ppt/notesMasters/notesMaster1.xml" Id="R729a260581b641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3f7c2d5dd640b7" /><Relationship Type="http://schemas.openxmlformats.org/officeDocument/2006/relationships/notesMaster" Target="/ppt/notesMasters/notesMaster1.xml" Id="R2322f28b4bb04d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a7571a7f544e9a" /><Relationship Type="http://schemas.openxmlformats.org/officeDocument/2006/relationships/notesMaster" Target="/ppt/notesMasters/notesMaster1.xml" Id="Rdbc6763c9b9e41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4e5efe87f34e31" /><Relationship Type="http://schemas.openxmlformats.org/officeDocument/2006/relationships/notesMaster" Target="/ppt/notesMasters/notesMaster1.xml" Id="Rddb05bbe222c40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ac6c4297e844d6" /><Relationship Type="http://schemas.openxmlformats.org/officeDocument/2006/relationships/notesMaster" Target="/ppt/notesMasters/notesMaster1.xml" Id="R891c68337a6649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544cec9abf4ac8" /><Relationship Type="http://schemas.openxmlformats.org/officeDocument/2006/relationships/notesMaster" Target="/ppt/notesMasters/notesMaster1.xml" Id="Rcefb4dee72454f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2ab314fae34ff7" /><Relationship Type="http://schemas.openxmlformats.org/officeDocument/2006/relationships/notesMaster" Target="/ppt/notesMasters/notesMaster1.xml" Id="R3e4cffe4fb6a40f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cfa34f76e749db" /><Relationship Type="http://schemas.openxmlformats.org/officeDocument/2006/relationships/notesMaster" Target="/ppt/notesMasters/notesMaster1.xml" Id="R108b8bbf49d547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62f99600874fe3" /><Relationship Type="http://schemas.openxmlformats.org/officeDocument/2006/relationships/notesMaster" Target="/ppt/notesMasters/notesMaster1.xml" Id="R75d46eee47d340a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54deedf869b4cb0" /><Relationship Type="http://schemas.openxmlformats.org/officeDocument/2006/relationships/notesMaster" Target="/ppt/notesMasters/notesMaster1.xml" Id="R66111673449d47b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1f770655a8f432c" /><Relationship Type="http://schemas.openxmlformats.org/officeDocument/2006/relationships/notesMaster" Target="/ppt/notesMasters/notesMaster1.xml" Id="R4f0925f6bf85412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a8575d9407f4d2a" /><Relationship Type="http://schemas.openxmlformats.org/officeDocument/2006/relationships/notesMaster" Target="/ppt/notesMasters/notesMaster1.xml" Id="R5ec7a64cd04647e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592d59f30c142bb" /><Relationship Type="http://schemas.openxmlformats.org/officeDocument/2006/relationships/notesMaster" Target="/ppt/notesMasters/notesMaster1.xml" Id="R1d76f2d3c934446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20aa6da8c5347ae" /><Relationship Type="http://schemas.openxmlformats.org/officeDocument/2006/relationships/notesMaster" Target="/ppt/notesMasters/notesMaster1.xml" Id="R03b2afefa7dd4b3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80ec58c9dc6420d" /><Relationship Type="http://schemas.openxmlformats.org/officeDocument/2006/relationships/notesMaster" Target="/ppt/notesMasters/notesMaster1.xml" Id="R7f21c2f1242844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names, IDs and guide reproduced from the supplied template. The title describes the implemented enrollment and academic management system.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portal manages course registration and academic records through one database.</a:t>
            </a:r>
          </a:p>
          <a:p xmlns:a="http://schemas.openxmlformats.org/drawingml/2006/main">
            <a:r>
              <a:t>Students choose course sections within a selected semester cluster.</a:t>
            </a:r>
          </a:p>
          <a:p xmlns:a="http://schemas.openxmlformats.org/drawingml/2006/main">
            <a:r>
              <a:t>Express services enforce eligibility, capacity and access permissions.</a:t>
            </a:r>
          </a:p>
          <a:p xmlns:a="http://schemas.openxmlformats.org/drawingml/2006/main">
            <a:r>
              <a:t>Administrators manage marks, attendance and official CGPA with change history.</a:t>
            </a:r>
          </a:p>
          <a:p xmlns:a="http://schemas.openxmlformats.org/drawingml/2006/main">
            <a:r>
              <a:t>The delivered release uses React, Node.js/Express and MySQL.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Capabilities verified against the existing source. Cluster group labels can be managed by administrators.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architecture is a modular monolith. The code does not implement independently deployed backend services.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server/db/schema.sql and server/db/clusters.js.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implementation locks all section rows before the student row. This deliberate serialization simplifies consistency for a college-sized system but limits write throughput. Source: server/services/enrollment.js.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student selects one cluster before requesting enrollment.</a:t>
            </a:r>
          </a:p>
          <a:p xmlns:a="http://schemas.openxmlformats.org/drawingml/2006/main">
            <a:r>
              <a:t>The backend accepts only sections within that cluster and the current semester.</a:t>
            </a:r>
          </a:p>
          <a:p xmlns:a="http://schemas.openxmlformats.org/drawingml/2006/main">
            <a:r>
              <a:t>Enrollment or waitlisting locks the semester choice, including after a later drop.</a:t>
            </a:r>
          </a:p>
          <a:p xmlns:a="http://schemas.openxmlformats.org/drawingml/2006/main">
            <a:r>
              <a:t>A full section can accept a waitlist request from an eligible student.</a:t>
            </a:r>
          </a:p>
          <a:p xmlns:a="http://schemas.openxmlformats.org/drawingml/2006/main">
            <a:r>
              <a:t>When a seat opens, the service rechecks eligibility before promoting a waiting student.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JWT HS256 uses Node crypto. Express sets security headers and a 64 KB JSON request limit. This describes implemented controls, not a completed security certification or penetration test.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student directory brings enrolled courses and academic details into one view.</a:t>
            </a:r>
          </a:p>
          <a:p xmlns:a="http://schemas.openxmlformats.org/drawingml/2006/main">
            <a:r>
              <a:t>Published grades produce a GPA weighted by course credits.</a:t>
            </a:r>
          </a:p>
          <a:p xmlns:a="http://schemas.openxmlformats.org/drawingml/2006/main">
            <a:r>
              <a:t>An official CGPA override accepts a value from 0 to 10 and requires a reason.</a:t>
            </a:r>
          </a:p>
          <a:p xmlns:a="http://schemas.openxmlformats.org/drawingml/2006/main">
            <a:r>
              <a:t>Removing the override restores the grade-derived calculation.</a:t>
            </a:r>
          </a:p>
          <a:p xmlns:a="http://schemas.openxmlformats.org/drawingml/2006/main">
            <a:r>
              <a:t>The audit history records academic changes for administrative review.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Endpoints verified against server/app.js, routes and the Postman collection.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Postman is the API test client and MySQL Workbench is the SQL client. This is a live demonstration sequence, not a claim that the user has already performed every test.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docs/VERIFICATION.md, 1 October 2026. Separate MySQL and Windows end-to-end validation were not performed in that environment. Component render checks are not interactive browser tests.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Follow-up items are future requirements. The deck does not claim production certification, high availability or load-test results.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Backend handout(3).pdf. FastAPI-specific CO3 framework requirements and the full six-outcome curriculum are not implemented.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release provides a persistent enrollment and academic administration workflow.</a:t>
            </a:r>
          </a:p>
          <a:p xmlns:a="http://schemas.openxmlformats.org/drawingml/2006/main">
            <a:r>
              <a:t>Transactions protect registration data while server rules enforce eligibility and clusters.</a:t>
            </a:r>
          </a:p>
          <a:p xmlns:a="http://schemas.openxmlformats.org/drawingml/2006/main">
            <a:r>
              <a:t>Administrative permissions and audit history support accountable academic changes.</a:t>
            </a:r>
          </a:p>
          <a:p xmlns:a="http://schemas.openxmlformats.org/drawingml/2006/main">
            <a:r>
              <a:t>The next release should prioritize deployment, backups and complete end-to-end testing.</a:t>
            </a:r>
          </a:p>
          <a:p xmlns:a="http://schemas.openxmlformats.org/drawingml/2006/main">
            <a:r>
              <a:t>Workload measurements should guide later capacity and architecture improvements.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Demonstration sequence, not a claim of an additional completed live evaluation. The presenter should rehearse against the current local database.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 describe implemented behavior supported by source and recorded checks. No adoption or throughput statistics are claimed.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URL supplied by the user. Deck covers technical evaluation categories without claiming completion of a separate poster revision.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Questions and live demonstration.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66ef5515a84c9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32d39cca8c4bb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436a1a2c59426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2039fe77ab4b2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559d6a148a4b5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42f3218bd746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0A16369-3E49-49EE-BB77-1D9BB2C2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E8165FB-2F76-4FC3-B63F-431EEF8716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2E2575B-C644-40C5-9C4D-F6F7EF0BD1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C8AA990-499E-4A78-8C28-0F97CB76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593391C-1284-48F6-AFF5-8E686B2042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CF7FE79-A0F1-49A1-B2FD-9D14422B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AA86F44-70E4-4003-9815-2DFB4587A9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69BD74A-4DF2-4778-A141-86C9A307D1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6E87F55-65EB-4393-8E1A-D5D5FE02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4B06A65-3AE9-42E6-BBCF-E8F7AC1634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838B3D-53B8-4888-90B2-A7326E7D5A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DACF5D0-A62E-4614-9EFB-DF95C150DB5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D86EEBD-944E-4689-8046-3159F3C4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D982FDD-FAF1-4001-AF2D-FD5345408D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91CE8B8-E3C4-4CDF-A89D-A3EB29866E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fa767b1dec439b" /><Relationship Type="http://schemas.openxmlformats.org/officeDocument/2006/relationships/slideLayout" Target="/ppt/slideLayouts/slideLayout1.xml" Id="R7912a4f96d004bc5" /><Relationship Type="http://schemas.openxmlformats.org/officeDocument/2006/relationships/slideLayout" Target="/ppt/slideLayouts/slideLayout2.xml" Id="Rfd81c8b142994864" /><Relationship Type="http://schemas.openxmlformats.org/officeDocument/2006/relationships/slideLayout" Target="/ppt/slideLayouts/slideLayout3.xml" Id="R6aadd308e5bd4d8d" /><Relationship Type="http://schemas.openxmlformats.org/officeDocument/2006/relationships/slideLayout" Target="/ppt/slideLayouts/slideLayout4.xml" Id="Ra457e296015942ca" /><Relationship Type="http://schemas.openxmlformats.org/officeDocument/2006/relationships/slideLayout" Target="/ppt/slideLayouts/slideLayout5.xml" Id="R55681d302234436e" /><Relationship Type="http://schemas.openxmlformats.org/officeDocument/2006/relationships/slideLayout" Target="/ppt/slideLayouts/slideLayout6.xml" Id="Rc388156ae7af41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12a4f96d004bc5"/>
    <p:sldLayoutId xmlns:r="http://schemas.openxmlformats.org/officeDocument/2006/relationships" id="2147483650" r:id="Rfd81c8b142994864"/>
    <p:sldLayoutId xmlns:r="http://schemas.openxmlformats.org/officeDocument/2006/relationships" id="2147483651" r:id="R6aadd308e5bd4d8d"/>
    <p:sldLayoutId xmlns:r="http://schemas.openxmlformats.org/officeDocument/2006/relationships" id="2147483652" r:id="Ra457e296015942ca"/>
    <p:sldLayoutId xmlns:r="http://schemas.openxmlformats.org/officeDocument/2006/relationships" id="2147483653" r:id="R55681d302234436e"/>
    <p:sldLayoutId xmlns:r="http://schemas.openxmlformats.org/officeDocument/2006/relationships" id="2147483654" r:id="Rc388156ae7af41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48f49e0bbe4475" /><Relationship Type="http://schemas.openxmlformats.org/officeDocument/2006/relationships/image" Target="/ppt/media/image.png" Id="Ra829caa8f33740a3" /><Relationship Type="http://schemas.openxmlformats.org/officeDocument/2006/relationships/notesSlide" Target="/ppt/notesSlides/notesSlide1.xml" Id="R3d63834752ba4e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2db60f921f4b0c" /><Relationship Type="http://schemas.openxmlformats.org/officeDocument/2006/relationships/image" Target="/ppt/media/image2.png" Id="Rbc89c9e29a3d4170" /><Relationship Type="http://schemas.openxmlformats.org/officeDocument/2006/relationships/notesSlide" Target="/ppt/notesSlides/notesSlide2.xml" Id="R734a6f00e72c4c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d85b7f24d145a2" /><Relationship Type="http://schemas.openxmlformats.org/officeDocument/2006/relationships/image" Target="/ppt/media/image3.png" Id="R44b80f4c6a9d4d87" /><Relationship Type="http://schemas.openxmlformats.org/officeDocument/2006/relationships/notesSlide" Target="/ppt/notesSlides/notesSlide3.xml" Id="R2dd8718328a44a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9b1d8798d44a3a" /><Relationship Type="http://schemas.openxmlformats.org/officeDocument/2006/relationships/image" Target="/ppt/media/image4.png" Id="R4d2f02c6bdf74679" /><Relationship Type="http://schemas.openxmlformats.org/officeDocument/2006/relationships/notesSlide" Target="/ppt/notesSlides/notesSlide4.xml" Id="R93bb576c02a84d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d90316f3e748f0" /><Relationship Type="http://schemas.openxmlformats.org/officeDocument/2006/relationships/image" Target="/ppt/media/image5.png" Id="Rc45df8b60f2f4750" /><Relationship Type="http://schemas.openxmlformats.org/officeDocument/2006/relationships/notesSlide" Target="/ppt/notesSlides/notesSlide5.xml" Id="R1234b55650ef48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387e66b50a42b5" /><Relationship Type="http://schemas.openxmlformats.org/officeDocument/2006/relationships/image" Target="/ppt/media/image6.png" Id="R81328c6d38ed465f" /><Relationship Type="http://schemas.openxmlformats.org/officeDocument/2006/relationships/notesSlide" Target="/ppt/notesSlides/notesSlide6.xml" Id="R6a4d95036d9b45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261e4c12d34223" /><Relationship Type="http://schemas.openxmlformats.org/officeDocument/2006/relationships/image" Target="/ppt/media/image7.png" Id="R37326be67cbc48a2" /><Relationship Type="http://schemas.openxmlformats.org/officeDocument/2006/relationships/notesSlide" Target="/ppt/notesSlides/notesSlide7.xml" Id="Rbbb62731404141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d2badf28044408" /><Relationship Type="http://schemas.openxmlformats.org/officeDocument/2006/relationships/image" Target="/ppt/media/image8.png" Id="R6bb6356f60174ec5" /><Relationship Type="http://schemas.openxmlformats.org/officeDocument/2006/relationships/notesSlide" Target="/ppt/notesSlides/notesSlide8.xml" Id="R5d635713a32440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780e3ea28b4bfe" /><Relationship Type="http://schemas.openxmlformats.org/officeDocument/2006/relationships/image" Target="/ppt/media/image9.png" Id="R18cc4395c52e4b21" /><Relationship Type="http://schemas.openxmlformats.org/officeDocument/2006/relationships/notesSlide" Target="/ppt/notesSlides/notesSlide9.xml" Id="R41a5f9a25eee42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ca57045ce64d61" /><Relationship Type="http://schemas.openxmlformats.org/officeDocument/2006/relationships/image" Target="/ppt/media/image10.png" Id="R4dc217431b0a405a" /><Relationship Type="http://schemas.openxmlformats.org/officeDocument/2006/relationships/notesSlide" Target="/ppt/notesSlides/notesSlide10.xml" Id="R5db2270693c841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5dca5163414ac3" /><Relationship Type="http://schemas.openxmlformats.org/officeDocument/2006/relationships/image" Target="/ppt/media/image11.png" Id="Rd18cb26f8cf1459b" /><Relationship Type="http://schemas.openxmlformats.org/officeDocument/2006/relationships/notesSlide" Target="/ppt/notesSlides/notesSlide11.xml" Id="Rc6b9375feaec46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937cb23b104975" /><Relationship Type="http://schemas.openxmlformats.org/officeDocument/2006/relationships/image" Target="/ppt/media/image12.png" Id="Rbdb3a3be20834f37" /><Relationship Type="http://schemas.openxmlformats.org/officeDocument/2006/relationships/notesSlide" Target="/ppt/notesSlides/notesSlide12.xml" Id="R927cfd8459e941f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0c76253fef4af3" /><Relationship Type="http://schemas.openxmlformats.org/officeDocument/2006/relationships/image" Target="/ppt/media/image13.png" Id="Re2142dbc87d141bf" /><Relationship Type="http://schemas.openxmlformats.org/officeDocument/2006/relationships/notesSlide" Target="/ppt/notesSlides/notesSlide13.xml" Id="R703f6b288d3248b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009a62021b4752" /><Relationship Type="http://schemas.openxmlformats.org/officeDocument/2006/relationships/image" Target="/ppt/media/image14.png" Id="Ra6a0ee599b734159" /><Relationship Type="http://schemas.openxmlformats.org/officeDocument/2006/relationships/notesSlide" Target="/ppt/notesSlides/notesSlide14.xml" Id="R922e26626e50402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76842d901b4f03" /><Relationship Type="http://schemas.openxmlformats.org/officeDocument/2006/relationships/image" Target="/ppt/media/image15.png" Id="Rf173f4e076844c7d" /><Relationship Type="http://schemas.openxmlformats.org/officeDocument/2006/relationships/notesSlide" Target="/ppt/notesSlides/notesSlide15.xml" Id="R12ec4a5ddb474dd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6d530367cb4861" /><Relationship Type="http://schemas.openxmlformats.org/officeDocument/2006/relationships/image" Target="/ppt/media/image16.png" Id="Ra4cc5ad8c8bd43e0" /><Relationship Type="http://schemas.openxmlformats.org/officeDocument/2006/relationships/notesSlide" Target="/ppt/notesSlides/notesSlide16.xml" Id="R403f3818b90643d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7b448b213c4b2c" /><Relationship Type="http://schemas.openxmlformats.org/officeDocument/2006/relationships/image" Target="/ppt/media/image17.png" Id="R468735a03c864358" /><Relationship Type="http://schemas.openxmlformats.org/officeDocument/2006/relationships/notesSlide" Target="/ppt/notesSlides/notesSlide17.xml" Id="Rd96201d7ac6d46d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54b8a8ac044520" /><Relationship Type="http://schemas.openxmlformats.org/officeDocument/2006/relationships/image" Target="/ppt/media/image18.png" Id="R7375ca683e924ab7" /><Relationship Type="http://schemas.openxmlformats.org/officeDocument/2006/relationships/notesSlide" Target="/ppt/notesSlides/notesSlide18.xml" Id="R5433014782504d5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bd4035bc754602" /><Relationship Type="http://schemas.openxmlformats.org/officeDocument/2006/relationships/image" Target="/ppt/media/image19.png" Id="R9f86dcf62ee640ad" /><Relationship Type="http://schemas.openxmlformats.org/officeDocument/2006/relationships/notesSlide" Target="/ppt/notesSlides/notesSlide19.xml" Id="R797d9c5ba64c44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CCCD1-D4CD-426C-91C3-48307DA1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3rd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638FD-3414-426C-90D6-A794ABCB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105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Student Course Enrollment and Academic Management System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2028825" y="1676400"/>
          <a:ext xmlns:a="http://schemas.openxmlformats.org/drawingml/2006/main" cx="8134350" cy="1123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67175"/>
                <a:gridCol w="4067175"/>
              </a:tblGrid>
              <a:tr h="374650">
                <a:tc>
                  <a:txBody>
                    <a:bodyPr lIns="76200" tIns="47625" rIns="76200" bIns="38100"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V. ABHIDEV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38100"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2520030325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4650">
                <a:tc>
                  <a:txBody>
                    <a:bodyPr lIns="76200" tIns="47625" rIns="76200" bIns="38100"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TEJ PRATAP SINGH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38100"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2520030476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4650">
                <a:tc>
                  <a:txBody>
                    <a:bodyPr lIns="76200" tIns="47625" rIns="76200" bIns="38100"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G. SHASHANK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38100"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2520030495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1FD44-4DA4-45F0-8883-B3F2699F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00400"/>
            <a:ext cx="552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Under the Guidance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113F3-21F2-4230-A241-200B636E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86200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Dr. Y Subbarayudu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E4FAC-0DBC-437C-95CC-94009C9A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67200"/>
            <a:ext cx="742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Assistant Professor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29caa8f33740a3"/>
          <a:stretch xmlns:a="http://schemas.openxmlformats.org/drawingml/2006/main"/>
        </p:blipFill>
        <p:spPr>
          <a:xfrm xmlns:a="http://schemas.openxmlformats.org/drawingml/2006/main">
            <a:off x="4953000" y="5008515"/>
            <a:ext cx="2714625" cy="101292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CE350-FB1D-4064-B73C-520BAE68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12457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KONERU LAKSHMAIAH EDUCATION FOUNDATION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A6D1E-6AE6-48C5-92A0-850FA753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19112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89c9e29a3d4170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40667-2B89-43D7-A691-C389043E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Project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EB94A-0083-4FC4-AEED-6F7511CB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7813E-BD63-4D68-80AA-C0CDDB19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20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portal manages course registration and academic records through one database. Students and administrators retrieve information through REST endpoints.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3041B-1ABA-436A-B778-A7B5C70D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Students choose course sections within a selected semester cluster. The semester selection remains locked after enrollment or waitlisting.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F18D2-0129-4C4B-83C8-66DA03ED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241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Express services enforce eligibility, capacity and access permissions. Checks also apply to direct requests sent outside the interface.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A714C-3EE8-4EAC-A009-626BCE8C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052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Administrators manage marks, attendance and official CGPA with change history. Calculated GPA and an official override are distinct academic values.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9C25D-B70E-4E1E-B01E-C3568C5E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delivered release uses React, Node.js/Express and MySQL. Production serves the interface and API from one backend application.</a:t>
            </a:r>
          </a:p>
        </p:txBody>
      </p:sp>
    </p:spTree>
    <p:extLst>
      <p:ext uri="{BB962C8B-B14F-4D97-AF65-F5344CB8AC3E}">
        <p14:creationId xmlns:p14="http://schemas.microsoft.com/office/powerpoint/2010/main" val="16793834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80f4c6a9d4d87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FC4D3-4ED4-48A7-A0F2-8B76E99B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Delivered Functional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C959E-3A05-40D0-A65B-A9AAA8BB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19125" y="1381125"/>
          <a:ext xmlns:a="http://schemas.openxmlformats.org/drawingml/2006/main" cx="109537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8334375"/>
              </a:tblGrid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Area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Implemented capability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Student portal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Course catalog, enrollment planner, timetable and grades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Enrollment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Prerequisite checks, 24-credit limit, schedule conflicts and seat checks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Clusters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Four semester clusters with 2, 3, 2 and 3 section groups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Administration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Student directory with courses, grade publication and attendance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Academic reporting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Credit-weighted GPA, official CGPA and rankings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Record history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Enrollment notifications and academic audit records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78122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2f02c6bdf74679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0957C-2C21-4350-A3D5-C1CBA768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Application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BC991-7686-4FD4-A538-C31098B2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1095375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4333875"/>
                <a:gridCol w="4572000"/>
              </a:tblGrid>
              <a:tr h="650875"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Layer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Implementation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Responsibility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Presentation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React pages and application context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User workflows and API requests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HTTP and access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Express routes and middleware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Authentication, roles and input validation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Business rules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Enrollment services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Eligibility, capacity and queue decisions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 access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mysql2 connection pool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Parameterized SQL and transactions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Persistence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MySQL schema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Academic records, constraints and stored logic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89AC72-7EAE-4316-9D3F-48E107B3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959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Deployment model: one Express application serves the REST API and the production frontend.</a:t>
            </a:r>
          </a:p>
        </p:txBody>
      </p:sp>
    </p:spTree>
    <p:extLst>
      <p:ext uri="{BB962C8B-B14F-4D97-AF65-F5344CB8AC3E}">
        <p14:creationId xmlns:p14="http://schemas.microsoft.com/office/powerpoint/2010/main" val="12980264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5df8b60f2f4750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655E6-5A48-4C18-93E6-C84CE5BD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Relational Data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8A92D-B1B2-4D1E-9633-A83234D3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1095375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286250"/>
                <a:gridCol w="3952875"/>
              </a:tblGrid>
              <a:tr h="650875"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Relationship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Database records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Rule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Student and registration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students, enrollments, courses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Enrollment links a student, course and section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Course and offering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courses, course_sections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Each offering belongs to one course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Cluster and group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academic_clusters, cluster_groups, section_clusters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Sections map to a cluster group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Student and semester choice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student_cluster_choices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One cluster selection per student and semester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Student and results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grades, attendance, cgpa_overrides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Academic records remain linked to the student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4AF97-03DB-4B64-9653-BD99DC04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959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Foreign keys and uniqueness constraints protect relationships alongside application validation.</a:t>
            </a:r>
          </a:p>
        </p:txBody>
      </p:sp>
    </p:spTree>
    <p:extLst>
      <p:ext uri="{BB962C8B-B14F-4D97-AF65-F5344CB8AC3E}">
        <p14:creationId xmlns:p14="http://schemas.microsoft.com/office/powerpoint/2010/main" val="4220446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28c6d38ed465f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3284E-54A7-4C4A-B759-173970B6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Enrollment Transaction and Consistency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43FF3-5F41-4C28-A99C-D911E4C4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BDEBA-C897-4023-ACBC-B44CF059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20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Start a database transaction and lock section records in a stable order. The lock sequence reduces conflicting writes during registration.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2C204-7347-43D5-BF33-DC29FD27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Lock the student record and validate cluster, prerequisites and timetable compatibility. The operation also checks duplicate enrollment and the 24-credit limit.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7B441-CB7D-48A2-A1EE-AC029A60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241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Check section capacity and earlier eligible waitlist entries. The service decides whether to enroll, waitlist or reject the request.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6F9D8-BE41-4FA6-A7B2-DD185C11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052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Write enrollment, timetable and notification changes within the transaction. The semester cluster choice remains consistent with the new enrollment.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E2051-4B01-49EA-9E30-6AFC773B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Commit successful changes or roll back the entire operation on failure. Related records remain unchanged when the operation fails.</a:t>
            </a:r>
          </a:p>
        </p:txBody>
      </p:sp>
    </p:spTree>
    <p:extLst>
      <p:ext uri="{BB962C8B-B14F-4D97-AF65-F5344CB8AC3E}">
        <p14:creationId xmlns:p14="http://schemas.microsoft.com/office/powerpoint/2010/main" val="18639028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326be67cbc48a2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0FBB6-EA26-44BD-93BC-CD8E4178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Cluster Rules and Waitlist Handling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F61D3-F2B0-4003-B0B0-0F34B5F2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A12A5-3C06-4377-AE26-AFBFB59F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20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 student selects one cluster before requesting enrollment. Four clusters have 2, 3, 2 and 3 section groups.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BEF61-4625-4C9A-8092-032E3E54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backend accepts only sections within that cluster and the current semester. Different subjects may use different groups inside the chosen cluster.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F37AA-CF2B-43FF-A95E-A5EAF338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241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Enrollment or waitlisting locks the semester choice, including after a later drop. Students cannot reset the choice by dropping all their courses.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C89CA-25D5-4812-8277-1E762536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052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 full section can accept a waitlist request from an eligible student. A queue entry does not guarantee later enrollment.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E1EA53-C3B8-467F-95DB-B1DD0E10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When a seat opens, the service rechecks eligibility before promoting a waiting student. The service can skip an ineligible entry and consider a later eligible student.</a:t>
            </a:r>
          </a:p>
        </p:txBody>
      </p:sp>
    </p:spTree>
    <p:extLst>
      <p:ext uri="{BB962C8B-B14F-4D97-AF65-F5344CB8AC3E}">
        <p14:creationId xmlns:p14="http://schemas.microsoft.com/office/powerpoint/2010/main" val="7091829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b6356f60174ec5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FDA94-FAFB-43ED-9F57-AC9E9187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Security and Request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B41AC-2A0B-4406-A1A0-3DED0DB6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748112-F4F4-45D4-A0A3-0681BBAA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20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Salted scrypt hashes protect passwords stored in the database. The application does not store the entered password as plain text.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BD42A5-6785-43CB-B0A1-B77FB886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Signed JWT sessions expire after eight hours. Protected API requests include the token in the Authorization header.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A8AC2-6D7E-4F65-8EB1-65632400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241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Ownership checks restrict student access to personal records. The backend verifies identity before reading protected student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FDC54-963B-48F9-B822-99346661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052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Administrator permissions protect marks, attendance and official CGPA changes. Direct API requests receive the same role checks as interface actions.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EEE75-674C-4CBA-A07E-FCC1215F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Parameterized queries, request limits and authentication rate limiting reduce common risks. The JSON body limit is 64 KB and the backend sets security headers.</a:t>
            </a:r>
          </a:p>
        </p:txBody>
      </p:sp>
    </p:spTree>
    <p:extLst>
      <p:ext uri="{BB962C8B-B14F-4D97-AF65-F5344CB8AC3E}">
        <p14:creationId xmlns:p14="http://schemas.microsoft.com/office/powerpoint/2010/main" val="15269909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c4395c52e4b21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F7C52-AD34-45B1-B91D-EC8396D4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Academic Administration and Audit History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53081-2F97-48AA-9AA9-68BD6424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7E405-62E9-40EA-81C0-3F3633AD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20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student directory brings enrolled courses and academic details into one view. The administrator can inspect the student’s selected cluster as well.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6669C-88A1-4B71-B1DA-9AA3CA24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Published grades produce a GPA weighted by course credits. Semester GPA filters results to the student’s current semester.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856FC-C709-4236-93E6-222874F7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241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An official CGPA override accepts a value from 0 to 10 and requires a reason. The effective CGPA uses this official value when an override exists.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705DD2-1629-4DDB-8D56-3067255F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052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Removing the override restores the grade-derived calculation. Published grades remain available for the underlying calculation.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5E30D-4D6C-4EEA-8145-8C13654C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audit history records academic changes for administrative review. Enrollment events also support investigation of registration changes.</a:t>
            </a:r>
          </a:p>
        </p:txBody>
      </p:sp>
    </p:spTree>
    <p:extLst>
      <p:ext uri="{BB962C8B-B14F-4D97-AF65-F5344CB8AC3E}">
        <p14:creationId xmlns:p14="http://schemas.microsoft.com/office/powerpoint/2010/main" val="16182264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217431b0a405a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CF5B9-AE16-4A52-86E4-5D0BBFCD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REST API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566DD-8EF9-4DE2-A28D-32F65C80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19125" y="1381125"/>
          <a:ext xmlns:a="http://schemas.openxmlformats.org/drawingml/2006/main" cx="10953750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5375"/>
                <a:gridCol w="6143625"/>
                <a:gridCol w="3714750"/>
              </a:tblGrid>
              <a:tr h="591911"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Method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Endpoint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Purpose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1911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/api/auth/login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Issue an authenticated session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1911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/api/courses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Read course offerings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1911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/api/enrollments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Enroll or join a section waitlist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1911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/api/clusters/students/:id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Choose the student’s cluster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1911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/api/clusters/students/:id/cgpa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Set or clear official CGPA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1911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/api/admin/overview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Read administrator statistics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4B68F-5806-4DFD-93CB-248AF0C5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435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OpenAPI contract: /api/openapi.json. Protected requests use a Bearer token.</a:t>
            </a:r>
          </a:p>
        </p:txBody>
      </p:sp>
    </p:spTree>
    <p:extLst>
      <p:ext uri="{BB962C8B-B14F-4D97-AF65-F5344CB8AC3E}">
        <p14:creationId xmlns:p14="http://schemas.microsoft.com/office/powerpoint/2010/main" val="13152511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cb26f8cf1459b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4E898-0452-4430-8833-1B11E7F7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API and Database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AA6E9-A5DC-43D8-B957-833B2902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19125" y="1381125"/>
          <a:ext xmlns:a="http://schemas.openxmlformats.org/drawingml/2006/main" cx="109537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191000"/>
                <a:gridCol w="4381500"/>
              </a:tblGrid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Demonstration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API evidence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Database or permission evidence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Student login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JWT returned in JSON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Student identity and role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Course retrieval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Course catalog response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Compare with SELECT * FROM courses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Enrollment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Accepted or rejected request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Inspect enrollments and timetable records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Cluster restriction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Cross-cluster request rejected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 invalid enrollment or seat loss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Official CGPA update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Admin update response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cgpa_overrides and academic_audit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Protected admin route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Student receives 403 Forbidden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Admin token grants authorized access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77984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b3a3be20834f37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C1CF2-7A2F-4E26-8BBB-2EE635BC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Verification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C60D0-71CD-479F-A0F1-DE9AB9A1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1095375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1905000"/>
                <a:gridCol w="6000750"/>
              </a:tblGrid>
              <a:tr h="650875"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Check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Recorded result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Coverage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Core unit tests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 passed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Password handling, JWT and enrollment rules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Database/API checks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40 passed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Enrollment, clusters, waitlists, CGPA and audit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React component checks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 passed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Student/admin pages and enrollment states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Production frontend build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Passed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React application builds for production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Repeated database setup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Preserved existing records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Setup does not reset academic data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AC436-9C84-4825-B68C-ED19F80B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9595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Recorded environment: Node.js 24 and MariaDB 10.11.14. Intended deployment: MySQL 8.0.16+.</a:t>
            </a:r>
          </a:p>
        </p:txBody>
      </p:sp>
    </p:spTree>
    <p:extLst>
      <p:ext uri="{BB962C8B-B14F-4D97-AF65-F5344CB8AC3E}">
        <p14:creationId xmlns:p14="http://schemas.microsoft.com/office/powerpoint/2010/main" val="3831318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42dbc87d141bf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410A6-FEAE-4AD3-B6DD-A1A76B8E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Engineering Tradeoffs and Production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7FE5D8-82B9-4693-AD31-6305F491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109537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3810000"/>
                <a:gridCol w="4143375"/>
              </a:tblGrid>
              <a:tr h="666750"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Current decision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Engineering benefit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Production follow-up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One backend application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Simple local execution and debugging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Measure workload before separating services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Section locks during enrollment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Consistent seats and queue promotion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Benchmark and narrow lock scope if needed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JWT sessions and application roles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Controlled access to student/admin operations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Institutional SSO and session revocation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Local database and startup scripts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Repeatable development setup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Backups, restore tests and managed hosting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Automated core and API checks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Regression coverage for key rules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Windows, MySQL and browser end-to-end testing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819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a0ee599b734159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19828-0FA5-4333-8030-902AEAAD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Alignment with the Backend Handout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D93E6-E841-4537-BB81-BBAAB7BF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19125" y="1524000"/>
          <a:ext xmlns:a="http://schemas.openxmlformats.org/drawingml/2006/main" cx="1095375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5810250"/>
                <a:gridCol w="3524250"/>
              </a:tblGrid>
              <a:tr h="676275"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Outcome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Project connection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Coverage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Relational modeling, SQL and transactions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Implemented with MySQL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REST, OpenAPI, JWT, hashing and roles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API/security concepts implemented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Node.js, Express, validation and middleware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Node/Express framework portion implemented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CO2, CO5, CO6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Additional databases, distributed services and operations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Outside the current delivered scope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B935B-372E-4E1F-9559-B93D9ABB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054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handout lists PostgreSQL. The project uses MySQL as its relational database.</a:t>
            </a:r>
          </a:p>
        </p:txBody>
      </p:sp>
    </p:spTree>
    <p:extLst>
      <p:ext uri="{BB962C8B-B14F-4D97-AF65-F5344CB8AC3E}">
        <p14:creationId xmlns:p14="http://schemas.microsoft.com/office/powerpoint/2010/main" val="8410960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73f4e076844c7d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3E4BA-E023-4A8F-8685-5CD32D82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Conclusion and Development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4682B-14BA-4F26-83F4-C295F76D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91910-048B-4963-AAD0-5534CDA5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20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release provides a persistent enrollment and academic administration workflow. Students and administrators operate on the same relational records.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3BE13-BA92-4A19-AA05-D83293E5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Transactions protect registration data while server rules enforce eligibility and clusters. Cluster locks persist across later course drops in the semester.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807FC-ACFE-4337-83D2-4AFD5F1E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241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Administrative permissions and audit history support accountable academic changes. Official CGPA changes require a validated value and a reason.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4564EC-87E7-4C85-8558-D10E8773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052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next release should prioritize deployment, backups and complete end-to-end testing. HTTPS, recovery procedures and operational monitoring need deployment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D30C1-67AB-40CA-B76D-2CB9C3E8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Workload measurements should guide later capacity and architecture improvements. The current section locking strategy prioritizes consistency over throughput.</a:t>
            </a:r>
          </a:p>
        </p:txBody>
      </p:sp>
    </p:spTree>
    <p:extLst>
      <p:ext uri="{BB962C8B-B14F-4D97-AF65-F5344CB8AC3E}">
        <p14:creationId xmlns:p14="http://schemas.microsoft.com/office/powerpoint/2010/main" val="1261284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c5ad8c8bd43e0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F72E6-6A73-4889-9A41-F07CD300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Live Project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76724-83C7-4863-8F82-880080EA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19125" y="1381125"/>
          <a:ext xmlns:a="http://schemas.openxmlformats.org/drawingml/2006/main" cx="109537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5143500"/>
                <a:gridCol w="5048250"/>
              </a:tblGrid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Start backend and inspect health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API running and database connection available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Choose a cluster and enroll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Accepted section appears in the timetable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Request a different-cluster section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Backend rejects the incompatible request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Admin updates official CGPA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Updated academic summary and change reason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Release a full section’s seat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Eligible waiting student receives enrollment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Run matching Workbench queries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Persisted records confirm application changes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5794E-4370-44C1-82FB-5671BCEF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388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Postman supplements the demonstration with HTTP requests and JSON responses.</a:t>
            </a:r>
          </a:p>
        </p:txBody>
      </p:sp>
    </p:spTree>
    <p:extLst>
      <p:ext uri="{BB962C8B-B14F-4D97-AF65-F5344CB8AC3E}">
        <p14:creationId xmlns:p14="http://schemas.microsoft.com/office/powerpoint/2010/main" val="10393838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735a03c864358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77697-31A2-49E2-8B1F-AFB25483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Results and Project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30092-1E59-4913-BE38-45D06AF6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19125" y="1381125"/>
          <a:ext xmlns:a="http://schemas.openxmlformats.org/drawingml/2006/main" cx="109537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000500"/>
                <a:gridCol w="4286250"/>
              </a:tblGrid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Delivered result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Practical outcome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Cluster consistency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Cross-cluster requests rejected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Subjects remain within one semester choice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Validated registration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Eligibility and capacity checks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Invalid enrollment leaves no partial record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Academic visibility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Directory and summary views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Administrators inspect students and subjects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Official CGPA control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Validated override with a reason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Academic updates retain a change history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Waitlist support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Eligibility recheck on seat release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Available seats can reach waiting students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Persistent operation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SQL records and audit entries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Changes survive interface refreshes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441004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5ca683e924ab7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33410-885A-4348-92B1-F7545684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Documentation and Repository Deliverables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3EE77-5585-4B57-84D8-376C1E0E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19125" y="1381125"/>
          <a:ext xmlns:a="http://schemas.openxmlformats.org/drawingml/2006/main" cx="109537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7143750"/>
              </a:tblGrid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Artifact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Purpose in final evaluation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Project source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React interface, Express routes and enrollment services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README.md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Setup, startup, API documentation and demo sequence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Database scripts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Schema, demonstration data and repeatable database setup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Postman collection and OpenAPI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API requests, authorization and documented contracts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Verification record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Recorded test results with environment limitations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Review decks and poster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Problem, implementation, architecture and outcomes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A426A7-B66E-4CC3-9AB9-AC94C32A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388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Repository: github.com/Tejpratap-069/dbse-dbd-projects   Folder: Project</a:t>
            </a:r>
          </a:p>
        </p:txBody>
      </p:sp>
    </p:spTree>
    <p:extLst>
      <p:ext uri="{BB962C8B-B14F-4D97-AF65-F5344CB8AC3E}">
        <p14:creationId xmlns:p14="http://schemas.microsoft.com/office/powerpoint/2010/main" val="18649547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6dcf62ee640ad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AEA4A-875B-4566-B18A-A0E7A883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4BF20-71AA-4A37-AE09-D5EFEE53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A49FE-25FC-4382-9C5D-E7952C97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86050"/>
            <a:ext cx="552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THANK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C6589B-FD98-44EE-BAFC-2DC55095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3852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Questions and Live Demonstration</a:t>
            </a:r>
          </a:p>
        </p:txBody>
      </p:sp>
    </p:spTree>
    <p:extLst>
      <p:ext uri="{BB962C8B-B14F-4D97-AF65-F5344CB8AC3E}">
        <p14:creationId xmlns:p14="http://schemas.microsoft.com/office/powerpoint/2010/main" val="11897197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2026-10-03T02:53:54.3070000Z</dcterms:created>
  <dcterms:modified xsi:type="dcterms:W3CDTF">2026-10-03T02:53:54.3070000Z</dcterms:modified>
</coreProperties>
</file>