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abead36599b46e8" /><Relationship Type="http://schemas.openxmlformats.org/officeDocument/2006/relationships/extended-properties" Target="/docProps/app.xml" Id="R25363643476644b0" /><Relationship Type="http://schemas.openxmlformats.org/officeDocument/2006/relationships/officeDocument" Target="/ppt/presentation.xml" Id="R8aa471e1b7364da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14b2ca86db74c72"/>
  </p:sldMasterIdLst>
  <p:notesMasterIdLst>
    <p:notesMasterId xmlns:r="http://schemas.openxmlformats.org/officeDocument/2006/relationships" r:id="R23cfbe69dabb4f01"/>
  </p:notesMasterIdLst>
  <p:sldIdLst>
    <p:sldId xmlns:r="http://schemas.openxmlformats.org/officeDocument/2006/relationships" id="256" r:id="R3afd15c514ec4cd5"/>
    <p:sldId xmlns:r="http://schemas.openxmlformats.org/officeDocument/2006/relationships" id="257" r:id="R4b76a425c1e64da4"/>
    <p:sldId xmlns:r="http://schemas.openxmlformats.org/officeDocument/2006/relationships" id="258" r:id="R7478cfb959464e98"/>
    <p:sldId xmlns:r="http://schemas.openxmlformats.org/officeDocument/2006/relationships" id="259" r:id="R41450ffd3dd44165"/>
    <p:sldId xmlns:r="http://schemas.openxmlformats.org/officeDocument/2006/relationships" id="260" r:id="R9d8b6c5302aa4e62"/>
    <p:sldId xmlns:r="http://schemas.openxmlformats.org/officeDocument/2006/relationships" id="261" r:id="R180093ba1f234aed"/>
    <p:sldId xmlns:r="http://schemas.openxmlformats.org/officeDocument/2006/relationships" id="262" r:id="R8b3f6f1b07a64536"/>
    <p:sldId xmlns:r="http://schemas.openxmlformats.org/officeDocument/2006/relationships" id="263" r:id="Rf12ac379e66640d1"/>
    <p:sldId xmlns:r="http://schemas.openxmlformats.org/officeDocument/2006/relationships" id="264" r:id="R69d4d1b2a4fd4859"/>
    <p:sldId xmlns:r="http://schemas.openxmlformats.org/officeDocument/2006/relationships" id="265" r:id="R51c8aa532fde404c"/>
    <p:sldId xmlns:r="http://schemas.openxmlformats.org/officeDocument/2006/relationships" id="266" r:id="R9f606ddc16f44539"/>
    <p:sldId xmlns:r="http://schemas.openxmlformats.org/officeDocument/2006/relationships" id="267" r:id="R75ffc76496bb4ead"/>
    <p:sldId xmlns:r="http://schemas.openxmlformats.org/officeDocument/2006/relationships" id="268" r:id="R6620317e82534de4"/>
    <p:sldId xmlns:r="http://schemas.openxmlformats.org/officeDocument/2006/relationships" id="269" r:id="R71edbba720904382"/>
    <p:sldId xmlns:r="http://schemas.openxmlformats.org/officeDocument/2006/relationships" id="270" r:id="R78dc8a5df3ab4a91"/>
    <p:sldId xmlns:r="http://schemas.openxmlformats.org/officeDocument/2006/relationships" id="271" r:id="R6e5fcc6c53ba4bdd"/>
    <p:sldId xmlns:r="http://schemas.openxmlformats.org/officeDocument/2006/relationships" id="272" r:id="R1866f6df538441e2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96671fbba6f442d" /><Relationship Type="http://schemas.openxmlformats.org/officeDocument/2006/relationships/slideMaster" Target="/ppt/slideMasters/slideMaster1.xml" Id="R814b2ca86db74c72" /><Relationship Type="http://schemas.openxmlformats.org/officeDocument/2006/relationships/notesMaster" Target="/ppt/notesMasters/notesMaster1.xml" Id="R23cfbe69dabb4f01" /><Relationship Type="http://schemas.openxmlformats.org/officeDocument/2006/relationships/presProps" Target="/ppt/presProps.xml" Id="R24f9932d5ae541ce" /><Relationship Type="http://schemas.openxmlformats.org/officeDocument/2006/relationships/tableStyles" Target="/ppt/tableStyles.xml" Id="R56c4b2bebc7b4976" /><Relationship Type="http://schemas.openxmlformats.org/officeDocument/2006/relationships/slide" Target="/ppt/slides/slide1.xml" Id="R3afd15c514ec4cd5" /><Relationship Type="http://schemas.openxmlformats.org/officeDocument/2006/relationships/slide" Target="/ppt/slides/slide2.xml" Id="R4b76a425c1e64da4" /><Relationship Type="http://schemas.openxmlformats.org/officeDocument/2006/relationships/slide" Target="/ppt/slides/slide3.xml" Id="R7478cfb959464e98" /><Relationship Type="http://schemas.openxmlformats.org/officeDocument/2006/relationships/slide" Target="/ppt/slides/slide4.xml" Id="R41450ffd3dd44165" /><Relationship Type="http://schemas.openxmlformats.org/officeDocument/2006/relationships/slide" Target="/ppt/slides/slide5.xml" Id="R9d8b6c5302aa4e62" /><Relationship Type="http://schemas.openxmlformats.org/officeDocument/2006/relationships/slide" Target="/ppt/slides/slide6.xml" Id="R180093ba1f234aed" /><Relationship Type="http://schemas.openxmlformats.org/officeDocument/2006/relationships/slide" Target="/ppt/slides/slide7.xml" Id="R8b3f6f1b07a64536" /><Relationship Type="http://schemas.openxmlformats.org/officeDocument/2006/relationships/slide" Target="/ppt/slides/slide8.xml" Id="Rf12ac379e66640d1" /><Relationship Type="http://schemas.openxmlformats.org/officeDocument/2006/relationships/slide" Target="/ppt/slides/slide9.xml" Id="R69d4d1b2a4fd4859" /><Relationship Type="http://schemas.openxmlformats.org/officeDocument/2006/relationships/slide" Target="/ppt/slides/slide10.xml" Id="R51c8aa532fde404c" /><Relationship Type="http://schemas.openxmlformats.org/officeDocument/2006/relationships/slide" Target="/ppt/slides/slide11.xml" Id="R9f606ddc16f44539" /><Relationship Type="http://schemas.openxmlformats.org/officeDocument/2006/relationships/slide" Target="/ppt/slides/slide12.xml" Id="R75ffc76496bb4ead" /><Relationship Type="http://schemas.openxmlformats.org/officeDocument/2006/relationships/slide" Target="/ppt/slides/slide13.xml" Id="R6620317e82534de4" /><Relationship Type="http://schemas.openxmlformats.org/officeDocument/2006/relationships/slide" Target="/ppt/slides/slide14.xml" Id="R71edbba720904382" /><Relationship Type="http://schemas.openxmlformats.org/officeDocument/2006/relationships/slide" Target="/ppt/slides/slide15.xml" Id="R78dc8a5df3ab4a91" /><Relationship Type="http://schemas.openxmlformats.org/officeDocument/2006/relationships/slide" Target="/ppt/slides/slide16.xml" Id="R6e5fcc6c53ba4bdd" /><Relationship Type="http://schemas.openxmlformats.org/officeDocument/2006/relationships/slide" Target="/ppt/slides/slide17.xml" Id="R1866f6df538441e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4373e2f493a43b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e397e6614e04cbb" /><Relationship Type="http://schemas.openxmlformats.org/officeDocument/2006/relationships/notesMaster" Target="/ppt/notesMasters/notesMaster1.xml" Id="R169cf795c079465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71c2ebf0e1a4bd2" /><Relationship Type="http://schemas.openxmlformats.org/officeDocument/2006/relationships/notesMaster" Target="/ppt/notesMasters/notesMaster1.xml" Id="Rb20dd84de3b84b2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7b80c3eef244f81" /><Relationship Type="http://schemas.openxmlformats.org/officeDocument/2006/relationships/notesMaster" Target="/ppt/notesMasters/notesMaster1.xml" Id="R6777adb227944c95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8e360dc61df4867" /><Relationship Type="http://schemas.openxmlformats.org/officeDocument/2006/relationships/notesMaster" Target="/ppt/notesMasters/notesMaster1.xml" Id="R793fa2f34e69401d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bb93ca4fc1104558" /><Relationship Type="http://schemas.openxmlformats.org/officeDocument/2006/relationships/notesMaster" Target="/ppt/notesMasters/notesMaster1.xml" Id="R647079ee78f44cce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358a54427bdb4d75" /><Relationship Type="http://schemas.openxmlformats.org/officeDocument/2006/relationships/notesMaster" Target="/ppt/notesMasters/notesMaster1.xml" Id="R80cf042684bc453e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0ae1d51447054a3f" /><Relationship Type="http://schemas.openxmlformats.org/officeDocument/2006/relationships/notesMaster" Target="/ppt/notesMasters/notesMaster1.xml" Id="Rfe40e12955794ce3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7016b131f7574a63" /><Relationship Type="http://schemas.openxmlformats.org/officeDocument/2006/relationships/notesMaster" Target="/ppt/notesMasters/notesMaster1.xml" Id="Rc0279391b78e488b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1572ac23a5484bb4" /><Relationship Type="http://schemas.openxmlformats.org/officeDocument/2006/relationships/notesMaster" Target="/ppt/notesMasters/notesMaster1.xml" Id="Re740aabc78ca4642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32c11cf45a9a4dd2" /><Relationship Type="http://schemas.openxmlformats.org/officeDocument/2006/relationships/notesMaster" Target="/ppt/notesMasters/notesMaster1.xml" Id="Rd0883f030d5e4faf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2b859b60405b4b11" /><Relationship Type="http://schemas.openxmlformats.org/officeDocument/2006/relationships/notesMaster" Target="/ppt/notesMasters/notesMaster1.xml" Id="R8c0e8fe4b4334718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8106a155b70441dd" /><Relationship Type="http://schemas.openxmlformats.org/officeDocument/2006/relationships/notesMaster" Target="/ppt/notesMasters/notesMaster1.xml" Id="Rcb71bd4f37574fb0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326a11408df44239" /><Relationship Type="http://schemas.openxmlformats.org/officeDocument/2006/relationships/notesMaster" Target="/ppt/notesMasters/notesMaster1.xml" Id="R8dd6904af0ac4937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b4419495c92f4932" /><Relationship Type="http://schemas.openxmlformats.org/officeDocument/2006/relationships/notesMaster" Target="/ppt/notesMasters/notesMaster1.xml" Id="Rc7faef12a2324f4c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3e40c59482664707" /><Relationship Type="http://schemas.openxmlformats.org/officeDocument/2006/relationships/notesMaster" Target="/ppt/notesMasters/notesMaster1.xml" Id="Rd64fe125523f4beb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e85b7fc7086b4a1f" /><Relationship Type="http://schemas.openxmlformats.org/officeDocument/2006/relationships/notesMaster" Target="/ppt/notesMasters/notesMaster1.xml" Id="Reb78a9d8caff432a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75a65668385242b9" /><Relationship Type="http://schemas.openxmlformats.org/officeDocument/2006/relationships/notesMaster" Target="/ppt/notesMasters/notesMaster1.xml" Id="R2d0c4de29550400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Team names, IDs and guide reproduced from the supplied template. The title describes the implemented enrollment and academic management system.</a:t>
            </a:r>
          </a:p>
          <a:p xmlns:a="http://schemas.openxmlformats.org/drawingml/2006/main">
            <a:r>
              <a:t>Source: Student Portal Pro v3 source code and project documentation, supplied Backend handout(3).pdf.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portal connects student course registration with administrative academic operations.</a:t>
            </a:r>
          </a:p>
          <a:p xmlns:a="http://schemas.openxmlformats.org/drawingml/2006/main">
            <a:r>
              <a:t>Students select a cluster, enroll in compatible sections and track their academic progress.</a:t>
            </a:r>
          </a:p>
          <a:p xmlns:a="http://schemas.openxmlformats.org/drawingml/2006/main">
            <a:r>
              <a:t>Administrators review student courses, publish grades and manage official CGPA records.</a:t>
            </a:r>
          </a:p>
          <a:p xmlns:a="http://schemas.openxmlformats.org/drawingml/2006/main">
            <a:r>
              <a:t>The current implementation uses React, an Express REST API and a MySQL database.</a:t>
            </a:r>
          </a:p>
          <a:p xmlns:a="http://schemas.openxmlformats.org/drawingml/2006/main">
            <a:r>
              <a:t>Source: Student Portal Pro v3 source code and project documentation, supplied Backend handout(3).pdf.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FastAPI, MongoDB, Spring Boot, Docker and Kubernetes are not implemented in this release. MySQL Workbench is the database administration client.</a:t>
            </a:r>
          </a:p>
          <a:p xmlns:a="http://schemas.openxmlformats.org/drawingml/2006/main">
            <a:r>
              <a:t>Source: Student Portal Pro v3 source code and project documentation, supplied Backend handout(3).pdf.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Code references: server/app.js, server/server.js, server/config/db.js and server/services/enrollment.js.</a:t>
            </a:r>
          </a:p>
          <a:p xmlns:a="http://schemas.openxmlformats.org/drawingml/2006/main">
            <a:r>
              <a:t>Source: Student Portal Pro v3 source code and project documentation, supplied Backend handout(3).pdf.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Schema: server/db/schema.sql. Cluster setup: server/db/clusters.js. Foreign keys and constraints protect relationships. Stored logic, views and SQL analytics support database demonstrations.</a:t>
            </a:r>
          </a:p>
          <a:p xmlns:a="http://schemas.openxmlformats.org/drawingml/2006/main">
            <a:r>
              <a:t>Source: Student Portal Pro v3 source code and project documentation, supplied Backend handout(3).pdf.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JWT HS256 uses built-in Node crypto. Code: server/services/security.js, server/middleware/auth.js and server/routes/auth.routes.js. Rate limiting protects authentication requests.</a:t>
            </a:r>
          </a:p>
          <a:p xmlns:a="http://schemas.openxmlformats.org/drawingml/2006/main">
            <a:r>
              <a:t>Source: Student Portal Pro v3 source code and project documentation, supplied Backend handout(3).pdf.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Enrollment service uses transactions and row locking. Dropping enrollment can trigger automatic waitlist promotion.</a:t>
            </a:r>
          </a:p>
          <a:p xmlns:a="http://schemas.openxmlformats.org/drawingml/2006/main">
            <a:r>
              <a:t>Source: Student Portal Pro v3 source code and project documentation, supplied Backend handout(3).pdf.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Admin users can rename clusters and groups and reassign unused course offerings. Code: server/routes/clusters.routes.js, server/db/clusters.js and enrollment service.</a:t>
            </a:r>
          </a:p>
          <a:p xmlns:a="http://schemas.openxmlformats.org/drawingml/2006/main">
            <a:r>
              <a:t>Source: Student Portal Pro v3 source code and project documentation, supplied Backend handout(3).pdf.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student directory links each student with enrolled courses and academic details.</a:t>
            </a:r>
          </a:p>
          <a:p xmlns:a="http://schemas.openxmlformats.org/drawingml/2006/main">
            <a:r>
              <a:t>Administrators publish course marks and record attendance.</a:t>
            </a:r>
          </a:p>
          <a:p xmlns:a="http://schemas.openxmlformats.org/drawingml/2006/main">
            <a:r>
              <a:t>Published results produce a credit-weighted GPA calculation.</a:t>
            </a:r>
          </a:p>
          <a:p xmlns:a="http://schemas.openxmlformats.org/drawingml/2006/main">
            <a:r>
              <a:t>An official CGPA override accepts values from 0 to 10 and requires a reason.</a:t>
            </a:r>
          </a:p>
          <a:p xmlns:a="http://schemas.openxmlformats.org/drawingml/2006/main">
            <a:r>
              <a:t>Clearing the override restores the calculated GPA. Academic changes enter the audit history.</a:t>
            </a:r>
          </a:p>
          <a:p xmlns:a="http://schemas.openxmlformats.org/drawingml/2006/main">
            <a:r>
              <a:t>Source: Student Portal Pro v3 source code and project documentation, supplied Backend handout(3).pdf.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Routes verified against the actual Express application and supplied Postman collection. Protected requests require a Bearer token.</a:t>
            </a:r>
          </a:p>
          <a:p xmlns:a="http://schemas.openxmlformats.org/drawingml/2006/main">
            <a:r>
              <a:t>Source: Student Portal Pro v3 source code and project documentation, supplied Backend handout(3).pdf.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slide describes the reproducible demonstration, not a claim that the user has already executed the collection. MySQL Workbench query example: USE student_portal_pro; SELECT * FROM courses;</a:t>
            </a:r>
          </a:p>
          <a:p xmlns:a="http://schemas.openxmlformats.org/drawingml/2006/main">
            <a:r>
              <a:t>Source: Student Portal Pro v3 source code and project documentation, supplied Backend handout(3).pdf.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Existing project verification records report 7 core tests, 40 database/API integration checks and 8 component render checks. Database integration ran on MariaDB 10.11; the intended user deployment is MySQL. These records do not constitute testing on the user’s Windows laptop.</a:t>
            </a:r>
          </a:p>
          <a:p xmlns:a="http://schemas.openxmlformats.org/drawingml/2006/main">
            <a:r>
              <a:t>Source: Student Portal Pro v3 source code and project documentation, supplied Backend handout(3).pdf.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Implemented: authentication, enrollment, cluster restrictions and administrator controls.</a:t>
            </a:r>
          </a:p>
          <a:p xmlns:a="http://schemas.openxmlformats.org/drawingml/2006/main">
            <a:r>
              <a:t>Implemented: persistent academic records, GPA calculations and audit history.</a:t>
            </a:r>
          </a:p>
          <a:p xmlns:a="http://schemas.openxmlformats.org/drawingml/2006/main">
            <a:r>
              <a:t>The current release runs as one Express application backed by MySQL.</a:t>
            </a:r>
          </a:p>
          <a:p xmlns:a="http://schemas.openxmlformats.org/drawingml/2006/main">
            <a:r>
              <a:t>Next steps include automated deployment, backups and expanded API testing.</a:t>
            </a:r>
          </a:p>
          <a:p xmlns:a="http://schemas.openxmlformats.org/drawingml/2006/main">
            <a:r>
              <a:t>Microservices and additional database technologies remain future scope.</a:t>
            </a:r>
          </a:p>
          <a:p xmlns:a="http://schemas.openxmlformats.org/drawingml/2006/main">
            <a:r>
              <a:t>Source: Student Portal Pro v3 source code and project documentation, supplied Backend handout(3).pdf.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SQL examples follow README.md. Run the application setup first so schema and sample data exist.</a:t>
            </a:r>
          </a:p>
          <a:p xmlns:a="http://schemas.openxmlformats.org/drawingml/2006/main">
            <a:r>
              <a:t>Source: Student Portal Pro v3 source code and project documentation, supplied Backend handout(3).pdf.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File paths checked against the supplied project. Configuration values come from server/.env.</a:t>
            </a:r>
          </a:p>
          <a:p xmlns:a="http://schemas.openxmlformats.org/drawingml/2006/main">
            <a:r>
              <a:t>Source: Student Portal Pro v3 source code and project documentation, supplied Backend handout(3).pdf.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Student and administrator pages read records through the Express API.</a:t>
            </a:r>
          </a:p>
          <a:p xmlns:a="http://schemas.openxmlformats.org/drawingml/2006/main">
            <a:r>
              <a:t>The backend accepts eligible course requests and rejects invalid selections.</a:t>
            </a:r>
          </a:p>
          <a:p xmlns:a="http://schemas.openxmlformats.org/drawingml/2006/main">
            <a:r>
              <a:t>A semester cluster lock applies across every subject selected by the student.</a:t>
            </a:r>
          </a:p>
          <a:p xmlns:a="http://schemas.openxmlformats.org/drawingml/2006/main">
            <a:r>
              <a:t>Administrative CGPA changes preserve the grade-derived academic results.</a:t>
            </a:r>
          </a:p>
          <a:p xmlns:a="http://schemas.openxmlformats.org/drawingml/2006/main">
            <a:r>
              <a:t>Database records and audit history provide evidence of completed operations.</a:t>
            </a:r>
          </a:p>
          <a:p xmlns:a="http://schemas.openxmlformats.org/drawingml/2006/main">
            <a:r>
              <a:t>Further validation should cover Windows startup, MySQL and interactive browser flows.</a:t>
            </a:r>
          </a:p>
          <a:p xmlns:a="http://schemas.openxmlformats.org/drawingml/2006/main">
            <a:r>
              <a:t>Source: Student Portal Pro v3 source code and project documentation, supplied Backend handout(3).pdf.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Questions and live demonstration.</a:t>
            </a:r>
          </a:p>
          <a:p xmlns:a="http://schemas.openxmlformats.org/drawingml/2006/main">
            <a:r>
              <a:t>Source: Student Portal Pro v3 source code and project documentation, supplied Backend handout(3).pdf.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3c2a92a436d417b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7d641e2014b4757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c892f9827b74580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24f33ce13ec43bb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7f312243443408a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7e88b276466414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Accent rule">
            <a:extLst xmlns:a="http://schemas.openxmlformats.org/drawingml/2006/main">
              <a:ext uri="{FF2B5EF4-FFF2-40B4-BE49-F238E27FC236}">
                <a16:creationId xmlns:a16="http://schemas.microsoft.com/office/drawing/2014/main" id="{2B69D3D8-B025-489F-B7B5-671AB3982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220980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DECA038C-1486-4479-ACAB-63FD690C5EE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3" name="Subtitle">
            <a:extLst xmlns:a="http://schemas.openxmlformats.org/drawingml/2006/main">
              <a:ext uri="{FF2B5EF4-FFF2-40B4-BE49-F238E27FC236}">
                <a16:creationId xmlns:a16="http://schemas.microsoft.com/office/drawing/2014/main" id="{1B5C7F7C-FACC-4274-891E-15E2A2D8767B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Accent rule">
            <a:extLst xmlns:a="http://schemas.openxmlformats.org/drawingml/2006/main">
              <a:ext uri="{FF2B5EF4-FFF2-40B4-BE49-F238E27FC236}">
                <a16:creationId xmlns:a16="http://schemas.microsoft.com/office/drawing/2014/main" id="{635F1919-1DBF-4378-A121-4AAAE3535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247650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98762310-F432-4043-94B1-27A56AAE6D7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Accent rule">
            <a:extLst xmlns:a="http://schemas.openxmlformats.org/drawingml/2006/main">
              <a:ext uri="{FF2B5EF4-FFF2-40B4-BE49-F238E27FC236}">
                <a16:creationId xmlns:a16="http://schemas.microsoft.com/office/drawing/2014/main" id="{05C6A6B9-D945-4293-99CB-097CEAA9C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DFC2B513-5CA8-4C69-AB99-02CC8224395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3" name="Body">
            <a:extLst xmlns:a="http://schemas.openxmlformats.org/drawingml/2006/main">
              <a:ext uri="{FF2B5EF4-FFF2-40B4-BE49-F238E27FC236}">
                <a16:creationId xmlns:a16="http://schemas.microsoft.com/office/drawing/2014/main" id="{AB784C2F-EE9E-41FB-A986-AE22718BA87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Accent rule">
            <a:extLst xmlns:a="http://schemas.openxmlformats.org/drawingml/2006/main">
              <a:ext uri="{FF2B5EF4-FFF2-40B4-BE49-F238E27FC236}">
                <a16:creationId xmlns:a16="http://schemas.microsoft.com/office/drawing/2014/main" id="{7F42A075-9C71-400F-B3CF-66532CF0E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18FDD4DF-7BCD-4CC0-AC7F-49D9CB02B88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3" name="Left column">
            <a:extLst xmlns:a="http://schemas.openxmlformats.org/drawingml/2006/main">
              <a:ext uri="{FF2B5EF4-FFF2-40B4-BE49-F238E27FC236}">
                <a16:creationId xmlns:a16="http://schemas.microsoft.com/office/drawing/2014/main" id="{87C0506A-F27A-404C-8D1F-2356653A825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4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CFD0C0A3-EDA6-4BA4-AA94-8853CCE55475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Accent rule">
            <a:extLst xmlns:a="http://schemas.openxmlformats.org/drawingml/2006/main">
              <a:ext uri="{FF2B5EF4-FFF2-40B4-BE49-F238E27FC236}">
                <a16:creationId xmlns:a16="http://schemas.microsoft.com/office/drawing/2014/main" id="{6A1D2E77-997A-4DE3-B0CA-4FA9C6EFF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340E5DF2-0E68-4799-BE7A-DA246A2755A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3" name="Left column">
            <a:extLst xmlns:a="http://schemas.openxmlformats.org/drawingml/2006/main">
              <a:ext uri="{FF2B5EF4-FFF2-40B4-BE49-F238E27FC236}">
                <a16:creationId xmlns:a16="http://schemas.microsoft.com/office/drawing/2014/main" id="{4B17AF08-B8FB-4045-8CF6-F45B9B19A7D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df479cab6b3432b" /><Relationship Type="http://schemas.openxmlformats.org/officeDocument/2006/relationships/slideLayout" Target="/ppt/slideLayouts/slideLayout1.xml" Id="Rd3db185d5315496c" /><Relationship Type="http://schemas.openxmlformats.org/officeDocument/2006/relationships/slideLayout" Target="/ppt/slideLayouts/slideLayout2.xml" Id="Rc97a6828738849dc" /><Relationship Type="http://schemas.openxmlformats.org/officeDocument/2006/relationships/slideLayout" Target="/ppt/slideLayouts/slideLayout3.xml" Id="Rf8c072504a4a43ae" /><Relationship Type="http://schemas.openxmlformats.org/officeDocument/2006/relationships/slideLayout" Target="/ppt/slideLayouts/slideLayout4.xml" Id="Re5020c8873a94d22" /><Relationship Type="http://schemas.openxmlformats.org/officeDocument/2006/relationships/slideLayout" Target="/ppt/slideLayouts/slideLayout5.xml" Id="R308303cf7f6e40ff" /><Relationship Type="http://schemas.openxmlformats.org/officeDocument/2006/relationships/slideLayout" Target="/ppt/slideLayouts/slideLayout6.xml" Id="R141babd836c8413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3db185d5315496c"/>
    <p:sldLayoutId xmlns:r="http://schemas.openxmlformats.org/officeDocument/2006/relationships" id="2147483650" r:id="Rc97a6828738849dc"/>
    <p:sldLayoutId xmlns:r="http://schemas.openxmlformats.org/officeDocument/2006/relationships" id="2147483651" r:id="Rf8c072504a4a43ae"/>
    <p:sldLayoutId xmlns:r="http://schemas.openxmlformats.org/officeDocument/2006/relationships" id="2147483652" r:id="Re5020c8873a94d22"/>
    <p:sldLayoutId xmlns:r="http://schemas.openxmlformats.org/officeDocument/2006/relationships" id="2147483653" r:id="R308303cf7f6e40ff"/>
    <p:sldLayoutId xmlns:r="http://schemas.openxmlformats.org/officeDocument/2006/relationships" id="2147483654" r:id="R141babd836c8413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0ab9ec044804ffc" /><Relationship Type="http://schemas.openxmlformats.org/officeDocument/2006/relationships/image" Target="/ppt/media/image.png" Id="Rfd0ddc73d5be47fd" /><Relationship Type="http://schemas.openxmlformats.org/officeDocument/2006/relationships/notesSlide" Target="/ppt/notesSlides/notesSlide1.xml" Id="R694c1195a4dc470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720538862974734" /><Relationship Type="http://schemas.openxmlformats.org/officeDocument/2006/relationships/image" Target="/ppt/media/image2.png" Id="R4a1c71525d3a456e" /><Relationship Type="http://schemas.openxmlformats.org/officeDocument/2006/relationships/notesSlide" Target="/ppt/notesSlides/notesSlide2.xml" Id="Rfa33f058782c41d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5dcd4b180244141" /><Relationship Type="http://schemas.openxmlformats.org/officeDocument/2006/relationships/image" Target="/ppt/media/image3.png" Id="Ra7fdf3c469a74802" /><Relationship Type="http://schemas.openxmlformats.org/officeDocument/2006/relationships/notesSlide" Target="/ppt/notesSlides/notesSlide3.xml" Id="Ra6867511092740e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0e52ae7b1b049d6" /><Relationship Type="http://schemas.openxmlformats.org/officeDocument/2006/relationships/image" Target="/ppt/media/image4.png" Id="Redf14095600a4539" /><Relationship Type="http://schemas.openxmlformats.org/officeDocument/2006/relationships/notesSlide" Target="/ppt/notesSlides/notesSlide4.xml" Id="Rd1da152aeb2341c0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26837e9033940c6" /><Relationship Type="http://schemas.openxmlformats.org/officeDocument/2006/relationships/image" Target="/ppt/media/image5.png" Id="Rc54dd9fab17a44fd" /><Relationship Type="http://schemas.openxmlformats.org/officeDocument/2006/relationships/notesSlide" Target="/ppt/notesSlides/notesSlide5.xml" Id="R147e86f9f7714b2a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0426e6a8d8f44cd" /><Relationship Type="http://schemas.openxmlformats.org/officeDocument/2006/relationships/image" Target="/ppt/media/image6.png" Id="R30531430aa0b453f" /><Relationship Type="http://schemas.openxmlformats.org/officeDocument/2006/relationships/notesSlide" Target="/ppt/notesSlides/notesSlide6.xml" Id="Rcb59b115271945b1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ff8500eadcb4d4e" /><Relationship Type="http://schemas.openxmlformats.org/officeDocument/2006/relationships/image" Target="/ppt/media/image7.png" Id="Re372a9dcaa634b05" /><Relationship Type="http://schemas.openxmlformats.org/officeDocument/2006/relationships/notesSlide" Target="/ppt/notesSlides/notesSlide7.xml" Id="Raa754ceeedc34543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a13ee1f5e3f4747" /><Relationship Type="http://schemas.openxmlformats.org/officeDocument/2006/relationships/image" Target="/ppt/media/image8.png" Id="Ra43ff3ad0d214647" /><Relationship Type="http://schemas.openxmlformats.org/officeDocument/2006/relationships/notesSlide" Target="/ppt/notesSlides/notesSlide8.xml" Id="R33d45c978e294288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d00d8e88f7d44f1" /><Relationship Type="http://schemas.openxmlformats.org/officeDocument/2006/relationships/image" Target="/ppt/media/image9.png" Id="Ra6bcd340278f48a9" /><Relationship Type="http://schemas.openxmlformats.org/officeDocument/2006/relationships/notesSlide" Target="/ppt/notesSlides/notesSlide9.xml" Id="R0fa3b66e4c174dda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8db9fba537144cc" /><Relationship Type="http://schemas.openxmlformats.org/officeDocument/2006/relationships/image" Target="/ppt/media/image10.png" Id="R26f7eb23418c4f57" /><Relationship Type="http://schemas.openxmlformats.org/officeDocument/2006/relationships/notesSlide" Target="/ppt/notesSlides/notesSlide10.xml" Id="R72ede467a61e4539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6b0263542c940e3" /><Relationship Type="http://schemas.openxmlformats.org/officeDocument/2006/relationships/image" Target="/ppt/media/image11.png" Id="Rf36c7ed97b5c42b0" /><Relationship Type="http://schemas.openxmlformats.org/officeDocument/2006/relationships/notesSlide" Target="/ppt/notesSlides/notesSlide11.xml" Id="R8857ed2989824f18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76562a0c9df4e71" /><Relationship Type="http://schemas.openxmlformats.org/officeDocument/2006/relationships/image" Target="/ppt/media/image12.png" Id="R9c21a3712b454b05" /><Relationship Type="http://schemas.openxmlformats.org/officeDocument/2006/relationships/notesSlide" Target="/ppt/notesSlides/notesSlide12.xml" Id="R5f559b9de42e4d18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8fcec08f2444990" /><Relationship Type="http://schemas.openxmlformats.org/officeDocument/2006/relationships/image" Target="/ppt/media/image13.png" Id="R6fa4b98025c34f8f" /><Relationship Type="http://schemas.openxmlformats.org/officeDocument/2006/relationships/notesSlide" Target="/ppt/notesSlides/notesSlide13.xml" Id="R1285f5f2f52d40a1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321b840f8f24914" /><Relationship Type="http://schemas.openxmlformats.org/officeDocument/2006/relationships/image" Target="/ppt/media/image14.png" Id="Rfd272f7388484b36" /><Relationship Type="http://schemas.openxmlformats.org/officeDocument/2006/relationships/notesSlide" Target="/ppt/notesSlides/notesSlide14.xml" Id="Re859b2a26a6c49f1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47d59e2de44418d" /><Relationship Type="http://schemas.openxmlformats.org/officeDocument/2006/relationships/image" Target="/ppt/media/image15.png" Id="Rbcce7c5ae02a4a5e" /><Relationship Type="http://schemas.openxmlformats.org/officeDocument/2006/relationships/notesSlide" Target="/ppt/notesSlides/notesSlide15.xml" Id="R4555492872ac4e4c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7298558e9c546ba" /><Relationship Type="http://schemas.openxmlformats.org/officeDocument/2006/relationships/image" Target="/ppt/media/image16.png" Id="R9eda2998db694084" /><Relationship Type="http://schemas.openxmlformats.org/officeDocument/2006/relationships/notesSlide" Target="/ppt/notesSlides/notesSlide16.xml" Id="Rdaf689e7411743c2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93a345280294a46" /><Relationship Type="http://schemas.openxmlformats.org/officeDocument/2006/relationships/image" Target="/ppt/media/image17.png" Id="Rd0894c52d142496d" /><Relationship Type="http://schemas.openxmlformats.org/officeDocument/2006/relationships/notesSlide" Target="/ppt/notesSlides/notesSlide17.xml" Id="Re8b90fa08f5646fe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D7A43C5-49FA-439F-8620-ACD1A24AF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33375"/>
            <a:ext cx="10953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250" b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2nd REVIEW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A060B45-E08B-4ED4-85B3-6E43065FB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781050"/>
            <a:ext cx="10477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0070C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100" b="1">
                <a:solidFill>
                  <a:srgbClr val="0070C0"/>
                </a:solidFill>
                <a:latin typeface="Times New Roman"/>
                <a:ea typeface="Times New Roman"/>
                <a:cs typeface="Times New Roman"/>
              </a:rPr>
              <a:t>Student Course Enrollment and Academic Management System</a:t>
            </a:r>
          </a:p>
        </p:txBody>
      </p:sp>
      <p:graphicFrame>
        <p:nvGraphicFramePr>
          <p:cNvPr id="12" name=""/>
          <p:cNvGraphicFramePr/>
          <p:nvPr/>
        </p:nvGraphicFramePr>
        <p:xfrm>
          <a:off xmlns:a="http://schemas.openxmlformats.org/drawingml/2006/main" x="2028825" y="1676400"/>
          <a:ext xmlns:a="http://schemas.openxmlformats.org/drawingml/2006/main" cx="8134350" cy="11239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067175"/>
                <a:gridCol w="4067175"/>
              </a:tblGrid>
              <a:tr h="374650">
                <a:tc>
                  <a:txBody>
                    <a:bodyPr lIns="76200" tIns="47625" rIns="76200" bIns="38100"/>
                    <a:lstStyle/>
                    <a:p>
                      <a:r>
                        <a:rPr sz="1725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V. ABHIDEV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76200" tIns="47625" rIns="76200" bIns="38100"/>
                    <a:lstStyle/>
                    <a:p>
                      <a:r>
                        <a:rPr sz="1725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2520030325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374650">
                <a:tc>
                  <a:txBody>
                    <a:bodyPr lIns="76200" tIns="47625" rIns="76200" bIns="38100"/>
                    <a:lstStyle/>
                    <a:p>
                      <a:r>
                        <a:rPr sz="1725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TEJ PRATAP SINGH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76200" tIns="47625" rIns="76200" bIns="38100"/>
                    <a:lstStyle/>
                    <a:p>
                      <a:r>
                        <a:rPr sz="1725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2520030476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374650">
                <a:tc>
                  <a:txBody>
                    <a:bodyPr lIns="76200" tIns="47625" rIns="76200" bIns="38100"/>
                    <a:lstStyle/>
                    <a:p>
                      <a:r>
                        <a:rPr sz="1725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G. SHASHANK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76200" tIns="47625" rIns="76200" bIns="38100"/>
                    <a:lstStyle/>
                    <a:p>
                      <a:r>
                        <a:rPr sz="1725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2520030495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635F867-829A-470A-86A9-DCB47D910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200400"/>
            <a:ext cx="5524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Under the Guidance</a:t>
            </a:r>
          </a:p>
          <a:p xmlns:a="http://schemas.openxmlformats.org/drawingml/2006/main">
            <a:pPr algn="ctr">
              <a:defRPr sz="1800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of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CAFEF2A-043A-43F1-A9A6-9EFAF8310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886200"/>
            <a:ext cx="5524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00B05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950" b="1">
                <a:solidFill>
                  <a:srgbClr val="00B050"/>
                </a:solidFill>
                <a:latin typeface="Times New Roman"/>
                <a:ea typeface="Times New Roman"/>
                <a:cs typeface="Times New Roman"/>
              </a:rPr>
              <a:t>Dr. Y Subbarayudu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AD1C104-A832-4F03-B3A5-E315D2957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4267200"/>
            <a:ext cx="7429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Assistant Professor</a:t>
            </a:r>
          </a:p>
          <a:p xmlns:a="http://schemas.openxmlformats.org/drawingml/2006/main">
            <a:pPr algn="ctr">
              <a:defRPr sz="1800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Department of Computer Science and Engineering</a:t>
            </a:r>
          </a:p>
        </p:txBody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d0ddc73d5be47fd"/>
          <a:stretch xmlns:a="http://schemas.openxmlformats.org/drawingml/2006/main"/>
        </p:blipFill>
        <p:spPr>
          <a:xfrm xmlns:a="http://schemas.openxmlformats.org/drawingml/2006/main">
            <a:off x="4953000" y="5008515"/>
            <a:ext cx="2714625" cy="1012920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5DEE85C-E3C6-4A67-A21A-96B19B5A3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6124575"/>
            <a:ext cx="7429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C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1">
                <a:solidFill>
                  <a:srgbClr val="C00000"/>
                </a:solidFill>
                <a:latin typeface="Times New Roman"/>
                <a:ea typeface="Times New Roman"/>
                <a:cs typeface="Times New Roman"/>
              </a:rPr>
              <a:t>KONERU LAKSHMAIAH EDUCATION FOUNDATION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A700036-6194-4D64-80A0-F2308432F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72825" y="6486525"/>
            <a:ext cx="428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80808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50" b="0">
                <a:solidFill>
                  <a:srgbClr val="808080"/>
                </a:solidFill>
                <a:latin typeface="Times New Roman"/>
                <a:ea typeface="Times New Roman"/>
                <a:cs typeface="Times New Roman"/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63259406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a1c71525d3a456e"/>
          <a:stretch xmlns:a="http://schemas.openxmlformats.org/drawingml/2006/main"/>
        </p:blipFill>
        <p:spPr>
          <a:xfrm xmlns:a="http://schemas.openxmlformats.org/drawingml/2006/main">
            <a:off x="1270" y="0"/>
            <a:ext cx="1616710" cy="638175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38010F7-E43F-4D90-9616-F49E530C1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628650"/>
            <a:ext cx="8858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0070C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100" b="1">
                <a:solidFill>
                  <a:srgbClr val="0070C0"/>
                </a:solidFill>
                <a:latin typeface="Times New Roman"/>
                <a:ea typeface="Times New Roman"/>
                <a:cs typeface="Times New Roman"/>
              </a:rPr>
              <a:t>Implementation Overview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E862260-AEEF-4394-AC70-06CDA0067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72825" y="6486525"/>
            <a:ext cx="428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80808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50" b="0">
                <a:solidFill>
                  <a:srgbClr val="808080"/>
                </a:solidFill>
                <a:latin typeface="Times New Roman"/>
                <a:ea typeface="Times New Roman"/>
                <a:cs typeface="Times New Roman"/>
              </a:rPr>
              <a:t>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FB77438-46A3-4DC9-B5E9-FFF37D689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362075"/>
            <a:ext cx="1092517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The portal connects student course registration with administrative academic operations. The React interface communicates with the backend through HTTP requests.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CB66DE9-CEE1-45D6-9E2F-45024EEDF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143125"/>
            <a:ext cx="1092517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Students select a cluster, enroll in compatible sections and track their academic progress. Server checks apply the same rules to interface and direct API requests.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5C3D8C8-F84D-43AB-B36F-E27DD8FBF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924175"/>
            <a:ext cx="1092517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Administrators review student courses, publish grades and manage official CGPA records. Academic changes include a recorded reason where required.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9100F49-12A3-41C3-AEB0-2C644C4D5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705225"/>
            <a:ext cx="1092517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The current implementation uses React, an Express REST API and a MySQL database. The production backend serves the built frontend from one application.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10ADCEB-BA59-4805-9C69-DBE41E728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486275"/>
            <a:ext cx="1092517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The implementation uses separate route, service and database modules.</a:t>
            </a:r>
          </a:p>
        </p:txBody>
      </p:sp>
    </p:spTree>
    <p:extLst>
      <p:ext uri="{BB962C8B-B14F-4D97-AF65-F5344CB8AC3E}">
        <p14:creationId xmlns:p14="http://schemas.microsoft.com/office/powerpoint/2010/main" val="70973775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7fdf3c469a74802"/>
          <a:stretch xmlns:a="http://schemas.openxmlformats.org/drawingml/2006/main"/>
        </p:blipFill>
        <p:spPr>
          <a:xfrm xmlns:a="http://schemas.openxmlformats.org/drawingml/2006/main">
            <a:off x="1270" y="0"/>
            <a:ext cx="1616710" cy="638175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E7352DD-0E3A-4CA2-974E-1FADF31A6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628650"/>
            <a:ext cx="8858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0070C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100" b="1">
                <a:solidFill>
                  <a:srgbClr val="0070C0"/>
                </a:solidFill>
                <a:latin typeface="Times New Roman"/>
                <a:ea typeface="Times New Roman"/>
                <a:cs typeface="Times New Roman"/>
              </a:rPr>
              <a:t>Software Requirements and Technology Stack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392CDE8-4737-4683-A0ED-9C7FC17AE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72825" y="6486525"/>
            <a:ext cx="428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80808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50" b="0">
                <a:solidFill>
                  <a:srgbClr val="808080"/>
                </a:solidFill>
                <a:latin typeface="Times New Roman"/>
                <a:ea typeface="Times New Roman"/>
                <a:cs typeface="Times New Roman"/>
              </a:rPr>
              <a:t>3</a:t>
            </a:r>
          </a:p>
        </p:txBody>
      </p:sp>
      <p:graphicFrame>
        <p:nvGraphicFramePr>
          <p:cNvPr id="8" name=""/>
          <p:cNvGraphicFramePr/>
          <p:nvPr/>
        </p:nvGraphicFramePr>
        <p:xfrm>
          <a:off xmlns:a="http://schemas.openxmlformats.org/drawingml/2006/main" x="619125" y="1428750"/>
          <a:ext xmlns:a="http://schemas.openxmlformats.org/drawingml/2006/main" cx="10953750" cy="4000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190750"/>
                <a:gridCol w="3048000"/>
                <a:gridCol w="5715000"/>
              </a:tblGrid>
              <a:tr h="666750">
                <a:tc>
                  <a:txBody>
                    <a:bodyPr lIns="114300" tIns="95250" rIns="114300" bIns="76200"/>
                    <a:lstStyle/>
                    <a:p>
                      <a:r>
                        <a:rPr sz="1575" b="1">
                          <a:solidFill>
                            <a:srgbClr val="0070C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Component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95250" rIns="114300" bIns="76200"/>
                    <a:lstStyle/>
                    <a:p>
                      <a:r>
                        <a:rPr sz="1575" b="1">
                          <a:solidFill>
                            <a:srgbClr val="0070C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Technology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95250" rIns="114300" bIns="76200"/>
                    <a:lstStyle/>
                    <a:p>
                      <a:r>
                        <a:rPr sz="1575" b="1">
                          <a:solidFill>
                            <a:srgbClr val="0070C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Role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666750">
                <a:tc>
                  <a:txBody>
                    <a:bodyPr lIns="114300" tIns="95250" rIns="114300" bIns="76200"/>
                    <a:lstStyle/>
                    <a:p>
                      <a:r>
                        <a:rPr sz="1575" b="0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Frontend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95250" rIns="114300" bIns="76200"/>
                    <a:lstStyle/>
                    <a:p>
                      <a:r>
                        <a:rPr sz="1575" b="0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React and Vite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95250" rIns="114300" bIns="76200"/>
                    <a:lstStyle/>
                    <a:p>
                      <a:r>
                        <a:rPr sz="1575" b="0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Student and administrator interfaces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666750">
                <a:tc>
                  <a:txBody>
                    <a:bodyPr lIns="114300" tIns="95250" rIns="114300" bIns="76200"/>
                    <a:lstStyle/>
                    <a:p>
                      <a:r>
                        <a:rPr sz="1575" b="0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Backend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95250" rIns="114300" bIns="76200"/>
                    <a:lstStyle/>
                    <a:p>
                      <a:r>
                        <a:rPr sz="1575" b="0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Node.js and Express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95250" rIns="114300" bIns="76200"/>
                    <a:lstStyle/>
                    <a:p>
                      <a:r>
                        <a:rPr sz="1575" b="0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REST routes, validation and business rules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666750">
                <a:tc>
                  <a:txBody>
                    <a:bodyPr lIns="114300" tIns="95250" rIns="114300" bIns="76200"/>
                    <a:lstStyle/>
                    <a:p>
                      <a:r>
                        <a:rPr sz="1575" b="0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Database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95250" rIns="114300" bIns="76200"/>
                    <a:lstStyle/>
                    <a:p>
                      <a:r>
                        <a:rPr sz="1575" b="0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MySQL with mysql2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95250" rIns="114300" bIns="76200"/>
                    <a:lstStyle/>
                    <a:p>
                      <a:r>
                        <a:rPr sz="1575" b="0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Persistent records and SQL transactions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666750">
                <a:tc>
                  <a:txBody>
                    <a:bodyPr lIns="114300" tIns="95250" rIns="114300" bIns="76200"/>
                    <a:lstStyle/>
                    <a:p>
                      <a:r>
                        <a:rPr sz="1575" b="0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API testing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95250" rIns="114300" bIns="76200"/>
                    <a:lstStyle/>
                    <a:p>
                      <a:r>
                        <a:rPr sz="1575" b="0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Postman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95250" rIns="114300" bIns="76200"/>
                    <a:lstStyle/>
                    <a:p>
                      <a:r>
                        <a:rPr sz="1575" b="0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Requests, responses and authentication tests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666750">
                <a:tc>
                  <a:txBody>
                    <a:bodyPr lIns="114300" tIns="95250" rIns="114300" bIns="76200"/>
                    <a:lstStyle/>
                    <a:p>
                      <a:r>
                        <a:rPr sz="1575" b="0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Development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95250" rIns="114300" bIns="76200"/>
                    <a:lstStyle/>
                    <a:p>
                      <a:r>
                        <a:rPr sz="1575" b="0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VS Code and GitHub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95250" rIns="114300" bIns="76200"/>
                    <a:lstStyle/>
                    <a:p>
                      <a:r>
                        <a:rPr sz="1575" b="0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Source editing and version control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688561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df14095600a4539"/>
          <a:stretch xmlns:a="http://schemas.openxmlformats.org/drawingml/2006/main"/>
        </p:blipFill>
        <p:spPr>
          <a:xfrm xmlns:a="http://schemas.openxmlformats.org/drawingml/2006/main">
            <a:off x="1270" y="0"/>
            <a:ext cx="1616710" cy="638175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B5ADC7C-14B6-41BA-9F05-F949A4ADE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628650"/>
            <a:ext cx="8858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0070C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100" b="1">
                <a:solidFill>
                  <a:srgbClr val="0070C0"/>
                </a:solidFill>
                <a:latin typeface="Times New Roman"/>
                <a:ea typeface="Times New Roman"/>
                <a:cs typeface="Times New Roman"/>
              </a:rPr>
              <a:t>Backend Implementation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FC04C57-8B81-4A87-88A2-1CEDDEC4C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72825" y="6486525"/>
            <a:ext cx="428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80808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50" b="0">
                <a:solidFill>
                  <a:srgbClr val="808080"/>
                </a:solidFill>
                <a:latin typeface="Times New Roman"/>
                <a:ea typeface="Times New Roman"/>
                <a:cs typeface="Times New Roman"/>
              </a:rPr>
              <a:t>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F34A876-1422-4F00-B081-D3E037B71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362075"/>
            <a:ext cx="1092517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server/app.js mounts API routes, parses JSON and handles request errors. The application exposes health and API documentation endpoints.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62163F3-AD9A-4A88-9F4D-35DD2A1BB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143125"/>
            <a:ext cx="1092517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Route modules separate authentication, courses, enrollment, clusters and administration. Middleware checks authentication before protected handlers run.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DA64DF0-A08B-4468-AB60-AF149835D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924175"/>
            <a:ext cx="1092517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Enrollment services apply academic rules before committing database changes. Eligibility includes semester, prerequisites, cluster and schedule checks.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CFBE2F1-3279-4C2C-ABC7-F69D9EA28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705225"/>
            <a:ext cx="1092517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mysql2 provides pooled connections and parameterized SQL queries. A transaction uses one connection for related enrollment writes.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ED69FA9-1F30-450B-BBEC-4D996A2B5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486275"/>
            <a:ext cx="1092517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The production Express server also serves the built React interface. Development uses Vite while production uses the built static assets.</a:t>
            </a:r>
          </a:p>
        </p:txBody>
      </p:sp>
    </p:spTree>
    <p:extLst>
      <p:ext uri="{BB962C8B-B14F-4D97-AF65-F5344CB8AC3E}">
        <p14:creationId xmlns:p14="http://schemas.microsoft.com/office/powerpoint/2010/main" val="145991778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54dd9fab17a44fd"/>
          <a:stretch xmlns:a="http://schemas.openxmlformats.org/drawingml/2006/main"/>
        </p:blipFill>
        <p:spPr>
          <a:xfrm xmlns:a="http://schemas.openxmlformats.org/drawingml/2006/main">
            <a:off x="1270" y="0"/>
            <a:ext cx="1616710" cy="638175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43F66ED-296F-41BD-8C04-FDD8E6B86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628650"/>
            <a:ext cx="8858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0070C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100" b="1">
                <a:solidFill>
                  <a:srgbClr val="0070C0"/>
                </a:solidFill>
                <a:latin typeface="Times New Roman"/>
                <a:ea typeface="Times New Roman"/>
                <a:cs typeface="Times New Roman"/>
              </a:rPr>
              <a:t>Database Implementation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FE3FA9C-00BF-4660-B789-402BE9EA4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72825" y="6486525"/>
            <a:ext cx="428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80808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50" b="0">
                <a:solidFill>
                  <a:srgbClr val="808080"/>
                </a:solidFill>
                <a:latin typeface="Times New Roman"/>
                <a:ea typeface="Times New Roman"/>
                <a:cs typeface="Times New Roman"/>
              </a:rPr>
              <a:t>5</a:t>
            </a:r>
          </a:p>
        </p:txBody>
      </p:sp>
      <p:graphicFrame>
        <p:nvGraphicFramePr>
          <p:cNvPr id="8" name=""/>
          <p:cNvGraphicFramePr/>
          <p:nvPr/>
        </p:nvGraphicFramePr>
        <p:xfrm>
          <a:off xmlns:a="http://schemas.openxmlformats.org/drawingml/2006/main" x="619125" y="1381125"/>
          <a:ext xmlns:a="http://schemas.openxmlformats.org/drawingml/2006/main" cx="10953750" cy="42386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000250"/>
                <a:gridCol w="4000500"/>
                <a:gridCol w="4953000"/>
              </a:tblGrid>
              <a:tr h="605518">
                <a:tc>
                  <a:txBody>
                    <a:bodyPr lIns="114300" tIns="95250" rIns="114300" bIns="76200"/>
                    <a:lstStyle/>
                    <a:p>
                      <a:r>
                        <a:rPr sz="1575" b="1">
                          <a:solidFill>
                            <a:srgbClr val="0070C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Record group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95250" rIns="114300" bIns="76200"/>
                    <a:lstStyle/>
                    <a:p>
                      <a:r>
                        <a:rPr sz="1575" b="1">
                          <a:solidFill>
                            <a:srgbClr val="0070C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Tables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95250" rIns="114300" bIns="76200"/>
                    <a:lstStyle/>
                    <a:p>
                      <a:r>
                        <a:rPr sz="1575" b="1">
                          <a:solidFill>
                            <a:srgbClr val="0070C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Purpose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605518">
                <a:tc>
                  <a:txBody>
                    <a:bodyPr lIns="114300" tIns="95250" rIns="114300" bIns="76200"/>
                    <a:lstStyle/>
                    <a:p>
                      <a:r>
                        <a:rPr sz="1575" b="0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Identity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95250" rIns="114300" bIns="76200"/>
                    <a:lstStyle/>
                    <a:p>
                      <a:r>
                        <a:rPr sz="1575" b="0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students, admins, faculty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95250" rIns="114300" bIns="76200"/>
                    <a:lstStyle/>
                    <a:p>
                      <a:r>
                        <a:rPr sz="1575" b="0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Accounts, profiles and roles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605518">
                <a:tc>
                  <a:txBody>
                    <a:bodyPr lIns="114300" tIns="95250" rIns="114300" bIns="76200"/>
                    <a:lstStyle/>
                    <a:p>
                      <a:r>
                        <a:rPr sz="1575" b="0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Course catalog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95250" rIns="114300" bIns="76200"/>
                    <a:lstStyle/>
                    <a:p>
                      <a:r>
                        <a:rPr sz="1575" b="0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courses, course_sections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95250" rIns="114300" bIns="76200"/>
                    <a:lstStyle/>
                    <a:p>
                      <a:r>
                        <a:rPr sz="1575" b="0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Course details, capacity and schedules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605518">
                <a:tc>
                  <a:txBody>
                    <a:bodyPr lIns="114300" tIns="95250" rIns="114300" bIns="76200"/>
                    <a:lstStyle/>
                    <a:p>
                      <a:r>
                        <a:rPr sz="1575" b="0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Registration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95250" rIns="114300" bIns="76200"/>
                    <a:lstStyle/>
                    <a:p>
                      <a:r>
                        <a:rPr sz="1575" b="0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enrollments, waitlist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95250" rIns="114300" bIns="76200"/>
                    <a:lstStyle/>
                    <a:p>
                      <a:r>
                        <a:rPr sz="1575" b="0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Enrollment state and seat queues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605518">
                <a:tc>
                  <a:txBody>
                    <a:bodyPr lIns="114300" tIns="95250" rIns="114300" bIns="76200"/>
                    <a:lstStyle/>
                    <a:p>
                      <a:r>
                        <a:rPr sz="1575" b="0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Cluster selection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95250" rIns="114300" bIns="76200"/>
                    <a:lstStyle/>
                    <a:p>
                      <a:r>
                        <a:rPr sz="1575" b="0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academic_clusters, cluster_groups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95250" rIns="114300" bIns="76200"/>
                    <a:lstStyle/>
                    <a:p>
                      <a:r>
                        <a:rPr sz="1575" b="0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Four clusters and section groups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605518">
                <a:tc>
                  <a:txBody>
                    <a:bodyPr lIns="114300" tIns="95250" rIns="114300" bIns="76200"/>
                    <a:lstStyle/>
                    <a:p>
                      <a:r>
                        <a:rPr sz="1575" b="0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Academic records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95250" rIns="114300" bIns="76200"/>
                    <a:lstStyle/>
                    <a:p>
                      <a:r>
                        <a:rPr sz="1575" b="0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grades, attendance, cgpa_overrides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95250" rIns="114300" bIns="76200"/>
                    <a:lstStyle/>
                    <a:p>
                      <a:r>
                        <a:rPr sz="1575" b="0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Results, attendance and official CGPA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605518">
                <a:tc>
                  <a:txBody>
                    <a:bodyPr lIns="114300" tIns="95250" rIns="114300" bIns="76200"/>
                    <a:lstStyle/>
                    <a:p>
                      <a:r>
                        <a:rPr sz="1575" b="0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Audit history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95250" rIns="114300" bIns="76200"/>
                    <a:lstStyle/>
                    <a:p>
                      <a:r>
                        <a:rPr sz="1575" b="0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academic_audit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95250" rIns="114300" bIns="76200"/>
                    <a:lstStyle/>
                    <a:p>
                      <a:r>
                        <a:rPr sz="1575" b="0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Record administrative academic changes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4370366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0531430aa0b453f"/>
          <a:stretch xmlns:a="http://schemas.openxmlformats.org/drawingml/2006/main"/>
        </p:blipFill>
        <p:spPr>
          <a:xfrm xmlns:a="http://schemas.openxmlformats.org/drawingml/2006/main">
            <a:off x="1270" y="0"/>
            <a:ext cx="1616710" cy="638175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CF2A6B4-A27B-40A1-8F31-004C59744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628650"/>
            <a:ext cx="8858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0070C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100" b="1">
                <a:solidFill>
                  <a:srgbClr val="0070C0"/>
                </a:solidFill>
                <a:latin typeface="Times New Roman"/>
                <a:ea typeface="Times New Roman"/>
                <a:cs typeface="Times New Roman"/>
              </a:rPr>
              <a:t>Authentication and Access Control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D6216B7-E334-4B32-ACE5-8CBFBF16E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72825" y="6486525"/>
            <a:ext cx="428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80808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50" b="0">
                <a:solidFill>
                  <a:srgbClr val="808080"/>
                </a:solidFill>
                <a:latin typeface="Times New Roman"/>
                <a:ea typeface="Times New Roman"/>
                <a:cs typeface="Times New Roman"/>
              </a:rPr>
              <a:t>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4BD1962-AE9E-4099-81AA-F7E4C8AC4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362075"/>
            <a:ext cx="1092517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The login endpoint validates credentials and issues an eight-hour JWT session. The client includes the token in later protected API requests.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FFD480C-E11E-4454-8220-FE0739013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143125"/>
            <a:ext cx="1092517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Salted scrypt hashes protect stored passwords. Login compares the entered password with its stored hash.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E083E54-EBFE-4AC1-9E92-7578CF1F6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924175"/>
            <a:ext cx="1092517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Authentication middleware verifies the token before granting access. Invalid or expired tokens prevent access to protected operations.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60F246E-7AC0-493B-8B70-CD1382025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705225"/>
            <a:ext cx="1092517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Student ownership checks restrict access to personal academic records. A student cannot request another student’s protected personal data.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372886B-E94C-46D2-BB30-C1A3AA666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486275"/>
            <a:ext cx="1092517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Admin role checks protect grade publication, CGPA changes and audit endpoints. The backend checks permissions even if a user bypasses the interface.</a:t>
            </a:r>
          </a:p>
        </p:txBody>
      </p:sp>
    </p:spTree>
    <p:extLst>
      <p:ext uri="{BB962C8B-B14F-4D97-AF65-F5344CB8AC3E}">
        <p14:creationId xmlns:p14="http://schemas.microsoft.com/office/powerpoint/2010/main" val="96695785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372a9dcaa634b05"/>
          <a:stretch xmlns:a="http://schemas.openxmlformats.org/drawingml/2006/main"/>
        </p:blipFill>
        <p:spPr>
          <a:xfrm xmlns:a="http://schemas.openxmlformats.org/drawingml/2006/main">
            <a:off x="1270" y="0"/>
            <a:ext cx="1616710" cy="638175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09924F6-080B-4587-BE16-3F63F1EF0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628650"/>
            <a:ext cx="8858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0070C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100" b="1">
                <a:solidFill>
                  <a:srgbClr val="0070C0"/>
                </a:solidFill>
                <a:latin typeface="Times New Roman"/>
                <a:ea typeface="Times New Roman"/>
                <a:cs typeface="Times New Roman"/>
              </a:rPr>
              <a:t>Enrollment Transaction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1605DC0-39B0-4969-9F59-AA8B3FECD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72825" y="6486525"/>
            <a:ext cx="428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80808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50" b="0">
                <a:solidFill>
                  <a:srgbClr val="808080"/>
                </a:solidFill>
                <a:latin typeface="Times New Roman"/>
                <a:ea typeface="Times New Roman"/>
                <a:cs typeface="Times New Roman"/>
              </a:rPr>
              <a:t>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0C2A5DF-209D-4848-8166-C66F8BE1A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362075"/>
            <a:ext cx="1092517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1. Start a transaction and lock section rows in a stable order. The stable order makes concurrent enrollment changes consistent.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8A60356-FFE1-46C8-B5E1-F1F96979C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143125"/>
            <a:ext cx="1092517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2. Lock the student and check semester, cluster, prerequisites and schedule. The requested offering must belong to the student’s selected cluster.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2D8A3F4-3BC5-4CC3-9F1F-7925A7784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924175"/>
            <a:ext cx="1092517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3. Check duplicate enrollment, the credit limit, capacity and waiting students. These checks decide whether the student can enroll or join a waitlist.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9CD65A0-A05C-498E-9EF1-5BFCC3214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705225"/>
            <a:ext cx="1092517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4. Save the enrollment and lock the student’s cluster selection. Save timetable and notification changes on the same database connection.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AC691D1-DF92-4979-BA5E-379711B7E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486275"/>
            <a:ext cx="1092517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5. Commit the transaction. Reject invalid requests without a partial enrollment. A failed operation rolls back all changes within the transaction.</a:t>
            </a:r>
          </a:p>
        </p:txBody>
      </p:sp>
    </p:spTree>
    <p:extLst>
      <p:ext uri="{BB962C8B-B14F-4D97-AF65-F5344CB8AC3E}">
        <p14:creationId xmlns:p14="http://schemas.microsoft.com/office/powerpoint/2010/main" val="1973171047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43ff3ad0d214647"/>
          <a:stretch xmlns:a="http://schemas.openxmlformats.org/drawingml/2006/main"/>
        </p:blipFill>
        <p:spPr>
          <a:xfrm xmlns:a="http://schemas.openxmlformats.org/drawingml/2006/main">
            <a:off x="1270" y="0"/>
            <a:ext cx="1616710" cy="638175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FD69B81-7D46-48D4-BC50-AA0C94DA4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628650"/>
            <a:ext cx="8858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0070C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100" b="1">
                <a:solidFill>
                  <a:srgbClr val="0070C0"/>
                </a:solidFill>
                <a:latin typeface="Times New Roman"/>
                <a:ea typeface="Times New Roman"/>
                <a:cs typeface="Times New Roman"/>
              </a:rPr>
              <a:t>Cluster and Section Implementation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1DD1AB4-988B-4F4E-9E01-D97D03047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72825" y="6486525"/>
            <a:ext cx="428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80808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50" b="0">
                <a:solidFill>
                  <a:srgbClr val="808080"/>
                </a:solidFill>
                <a:latin typeface="Times New Roman"/>
                <a:ea typeface="Times New Roman"/>
                <a:cs typeface="Times New Roman"/>
              </a:rPr>
              <a:t>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C2EB8E2-9AD7-46C5-8DE0-FE6DAE423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362075"/>
            <a:ext cx="1092517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Each semester contains four clusters with 2, 3, 2 and 3 section groups. Each subject has offerings within the configured clusters.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B11204E-4AA3-4F20-967E-14AEE779A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143125"/>
            <a:ext cx="1092517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Students choose one cluster before enrolling in a course. The semester choice links the student to a single cluster.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C3AD241-7A7C-43AD-AEAA-5ADED62B8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924175"/>
            <a:ext cx="1092517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The planner displays course sections belonging to that selected cluster. Students may choose different groups within their selected cluster.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41889CF-B2B4-4E00-BD2B-5A6CAAB65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705225"/>
            <a:ext cx="1092517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The backend rejects a requested section from another cluster. Direct API requests cannot bypass the cluster restriction.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3E05F1D-6A0B-48EC-B112-32741D39C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486275"/>
            <a:ext cx="1092517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Enrollment or waitlisting locks the choice. Dropping a course keeps the lock. The lock persists to prevent mixing subjects through repeated drops.</a:t>
            </a:r>
          </a:p>
        </p:txBody>
      </p:sp>
    </p:spTree>
    <p:extLst>
      <p:ext uri="{BB962C8B-B14F-4D97-AF65-F5344CB8AC3E}">
        <p14:creationId xmlns:p14="http://schemas.microsoft.com/office/powerpoint/2010/main" val="1168739858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6bcd340278f48a9"/>
          <a:stretch xmlns:a="http://schemas.openxmlformats.org/drawingml/2006/main"/>
        </p:blipFill>
        <p:spPr>
          <a:xfrm xmlns:a="http://schemas.openxmlformats.org/drawingml/2006/main">
            <a:off x="1270" y="0"/>
            <a:ext cx="1616710" cy="638175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BFC537E-3BEA-40C6-AB96-F80F38050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628650"/>
            <a:ext cx="8858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0070C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100" b="1">
                <a:solidFill>
                  <a:srgbClr val="0070C0"/>
                </a:solidFill>
                <a:latin typeface="Times New Roman"/>
                <a:ea typeface="Times New Roman"/>
                <a:cs typeface="Times New Roman"/>
              </a:rPr>
              <a:t>Administrator and CGPA Operations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E3A594A-F8EA-49C1-B372-404A72C58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72825" y="6486525"/>
            <a:ext cx="428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80808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50" b="0">
                <a:solidFill>
                  <a:srgbClr val="808080"/>
                </a:solidFill>
                <a:latin typeface="Times New Roman"/>
                <a:ea typeface="Times New Roman"/>
                <a:cs typeface="Times New Roman"/>
              </a:rPr>
              <a:t>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BDDBD20-F8C7-4BD5-8C13-DE3C6EA63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362075"/>
            <a:ext cx="1092517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The student directory links each student with enrolled courses and academic details. Administrators can inspect a student’s enrollment and cluster together.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061DD63-4654-484E-B5B8-E9E9FEB08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143125"/>
            <a:ext cx="1092517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Administrators publish course marks and record attendance. Published grades and attendance remain linked to student records.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6879118-21B8-4C3D-966A-E46343208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924175"/>
            <a:ext cx="1092517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Published results produce a credit-weighted GPA calculation. The number of credits determines each grade’s contribution.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9627844-6661-4267-AC25-F86C41D01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705225"/>
            <a:ext cx="1092517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An official CGPA override accepts values from 0 to 10 and requires a reason. The backend validates the value before saving the override.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6F9F6DC-4282-497A-A270-726839BAC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486275"/>
            <a:ext cx="1092517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Clearing the override restores the calculated GPA. Academic changes enter the audit history. The directory and reporting views use the effective academic value.</a:t>
            </a:r>
          </a:p>
        </p:txBody>
      </p:sp>
    </p:spTree>
    <p:extLst>
      <p:ext uri="{BB962C8B-B14F-4D97-AF65-F5344CB8AC3E}">
        <p14:creationId xmlns:p14="http://schemas.microsoft.com/office/powerpoint/2010/main" val="765465146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6f7eb23418c4f57"/>
          <a:stretch xmlns:a="http://schemas.openxmlformats.org/drawingml/2006/main"/>
        </p:blipFill>
        <p:spPr>
          <a:xfrm xmlns:a="http://schemas.openxmlformats.org/drawingml/2006/main">
            <a:off x="1270" y="0"/>
            <a:ext cx="1616710" cy="638175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9038E11-6F78-4EF7-BAD4-BD923C121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628650"/>
            <a:ext cx="8858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0070C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100" b="1">
                <a:solidFill>
                  <a:srgbClr val="0070C0"/>
                </a:solidFill>
                <a:latin typeface="Times New Roman"/>
                <a:ea typeface="Times New Roman"/>
                <a:cs typeface="Times New Roman"/>
              </a:rPr>
              <a:t>REST API Implementation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7CD3116-165F-4804-B854-EB65AC6CC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72825" y="6486525"/>
            <a:ext cx="428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80808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50" b="0">
                <a:solidFill>
                  <a:srgbClr val="808080"/>
                </a:solidFill>
                <a:latin typeface="Times New Roman"/>
                <a:ea typeface="Times New Roman"/>
                <a:cs typeface="Times New Roman"/>
              </a:rPr>
              <a:t>10</a:t>
            </a:r>
          </a:p>
        </p:txBody>
      </p:sp>
      <p:graphicFrame>
        <p:nvGraphicFramePr>
          <p:cNvPr id="8" name=""/>
          <p:cNvGraphicFramePr/>
          <p:nvPr/>
        </p:nvGraphicFramePr>
        <p:xfrm>
          <a:off xmlns:a="http://schemas.openxmlformats.org/drawingml/2006/main" x="619125" y="1381125"/>
          <a:ext xmlns:a="http://schemas.openxmlformats.org/drawingml/2006/main" cx="10953750" cy="41433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095375"/>
                <a:gridCol w="6191250"/>
                <a:gridCol w="3667125"/>
              </a:tblGrid>
              <a:tr h="591911">
                <a:tc>
                  <a:txBody>
                    <a:bodyPr lIns="114300" tIns="95250" rIns="114300" bIns="76200"/>
                    <a:lstStyle/>
                    <a:p>
                      <a:r>
                        <a:rPr sz="1575" b="1">
                          <a:solidFill>
                            <a:srgbClr val="0070C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Method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95250" rIns="114300" bIns="76200"/>
                    <a:lstStyle/>
                    <a:p>
                      <a:r>
                        <a:rPr sz="1575" b="1">
                          <a:solidFill>
                            <a:srgbClr val="0070C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Endpoint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95250" rIns="114300" bIns="76200"/>
                    <a:lstStyle/>
                    <a:p>
                      <a:r>
                        <a:rPr sz="1575" b="1">
                          <a:solidFill>
                            <a:srgbClr val="0070C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Operation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591911">
                <a:tc>
                  <a:txBody>
                    <a:bodyPr lIns="114300" tIns="95250" rIns="114300" bIns="76200"/>
                    <a:lstStyle/>
                    <a:p>
                      <a:r>
                        <a:rPr sz="1575" b="0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POST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95250" rIns="114300" bIns="76200"/>
                    <a:lstStyle/>
                    <a:p>
                      <a:r>
                        <a:rPr sz="1575" b="0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/api/auth/login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95250" rIns="114300" bIns="76200"/>
                    <a:lstStyle/>
                    <a:p>
                      <a:r>
                        <a:rPr sz="1575" b="0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Authenticate student or administrator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591911">
                <a:tc>
                  <a:txBody>
                    <a:bodyPr lIns="114300" tIns="95250" rIns="114300" bIns="76200"/>
                    <a:lstStyle/>
                    <a:p>
                      <a:r>
                        <a:rPr sz="1575" b="0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GET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95250" rIns="114300" bIns="76200"/>
                    <a:lstStyle/>
                    <a:p>
                      <a:r>
                        <a:rPr sz="1575" b="0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/api/courses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95250" rIns="114300" bIns="76200"/>
                    <a:lstStyle/>
                    <a:p>
                      <a:r>
                        <a:rPr sz="1575" b="0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Retrieve the course catalog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591911">
                <a:tc>
                  <a:txBody>
                    <a:bodyPr lIns="114300" tIns="95250" rIns="114300" bIns="76200"/>
                    <a:lstStyle/>
                    <a:p>
                      <a:r>
                        <a:rPr sz="1575" b="0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POST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95250" rIns="114300" bIns="76200"/>
                    <a:lstStyle/>
                    <a:p>
                      <a:r>
                        <a:rPr sz="1575" b="0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/api/enrollments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95250" rIns="114300" bIns="76200"/>
                    <a:lstStyle/>
                    <a:p>
                      <a:r>
                        <a:rPr sz="1575" b="0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Enroll or request a waitlist place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591911">
                <a:tc>
                  <a:txBody>
                    <a:bodyPr lIns="114300" tIns="95250" rIns="114300" bIns="76200"/>
                    <a:lstStyle/>
                    <a:p>
                      <a:r>
                        <a:rPr sz="1575" b="0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PUT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95250" rIns="114300" bIns="76200"/>
                    <a:lstStyle/>
                    <a:p>
                      <a:r>
                        <a:rPr sz="1575" b="0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/api/clusters/students/:id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95250" rIns="114300" bIns="76200"/>
                    <a:lstStyle/>
                    <a:p>
                      <a:r>
                        <a:rPr sz="1575" b="0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Choose a cluster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591911">
                <a:tc>
                  <a:txBody>
                    <a:bodyPr lIns="114300" tIns="95250" rIns="114300" bIns="76200"/>
                    <a:lstStyle/>
                    <a:p>
                      <a:r>
                        <a:rPr sz="1575" b="0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PUT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95250" rIns="114300" bIns="76200"/>
                    <a:lstStyle/>
                    <a:p>
                      <a:r>
                        <a:rPr sz="1575" b="0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/api/clusters/students/:id/cgpa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95250" rIns="114300" bIns="76200"/>
                    <a:lstStyle/>
                    <a:p>
                      <a:r>
                        <a:rPr sz="1575" b="0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Set or clear official CGPA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591911">
                <a:tc>
                  <a:txBody>
                    <a:bodyPr lIns="114300" tIns="95250" rIns="114300" bIns="76200"/>
                    <a:lstStyle/>
                    <a:p>
                      <a:r>
                        <a:rPr sz="1575" b="0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GET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95250" rIns="114300" bIns="76200"/>
                    <a:lstStyle/>
                    <a:p>
                      <a:r>
                        <a:rPr sz="1575" b="0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/api/admin/overview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95250" rIns="114300" bIns="76200"/>
                    <a:lstStyle/>
                    <a:p>
                      <a:r>
                        <a:rPr sz="1575" b="0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Read administrative statistics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61722270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36c7ed97b5c42b0"/>
          <a:stretch xmlns:a="http://schemas.openxmlformats.org/drawingml/2006/main"/>
        </p:blipFill>
        <p:spPr>
          <a:xfrm xmlns:a="http://schemas.openxmlformats.org/drawingml/2006/main">
            <a:off x="1270" y="0"/>
            <a:ext cx="1616710" cy="638175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EEC034C-B065-4327-A0F3-3A0CC203F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628650"/>
            <a:ext cx="8858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0070C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100" b="1">
                <a:solidFill>
                  <a:srgbClr val="0070C0"/>
                </a:solidFill>
                <a:latin typeface="Times New Roman"/>
                <a:ea typeface="Times New Roman"/>
                <a:cs typeface="Times New Roman"/>
              </a:rPr>
              <a:t>Postman and Database Demonstration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41CB6C4-BB8E-429D-8F38-D37129219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72825" y="6486525"/>
            <a:ext cx="428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80808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50" b="0">
                <a:solidFill>
                  <a:srgbClr val="808080"/>
                </a:solidFill>
                <a:latin typeface="Times New Roman"/>
                <a:ea typeface="Times New Roman"/>
                <a:cs typeface="Times New Roman"/>
              </a:rPr>
              <a:t>11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73B0B3E-41F7-453F-83D3-5F510740D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362075"/>
            <a:ext cx="1092517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Import postman/Student_Portal_API.postman_collection.json into Postman. The collection contains the prepared API requests.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BF25558-2C3F-4319-975A-845326B14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143125"/>
            <a:ext cx="1092517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Run Health, then Login Student. The collection saves the returned token. A successful health response confirms the API can reach the database.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525DD70-811F-4E5B-B13B-C21FA9129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924175"/>
            <a:ext cx="1092517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Send Courses, Student Profile and List clusters and offerings. Inspect status codes and JSON responses for each request.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2CCA238-4235-4716-B168-AD54E02F3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705225"/>
            <a:ext cx="1092517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Compare the returned course and student records with SQL results in MySQL Workbench. An accepted change should appear in the related database record.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01FFCBF-05CF-411C-B86F-2575933E0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486275"/>
            <a:ext cx="1092517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Use a student token on Admin Overview, then repeat after Login Admin to show role checks. This demonstrates both denied access and authorized administration.</a:t>
            </a:r>
          </a:p>
        </p:txBody>
      </p:sp>
    </p:spTree>
    <p:extLst>
      <p:ext uri="{BB962C8B-B14F-4D97-AF65-F5344CB8AC3E}">
        <p14:creationId xmlns:p14="http://schemas.microsoft.com/office/powerpoint/2010/main" val="1326046091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c21a3712b454b05"/>
          <a:stretch xmlns:a="http://schemas.openxmlformats.org/drawingml/2006/main"/>
        </p:blipFill>
        <p:spPr>
          <a:xfrm xmlns:a="http://schemas.openxmlformats.org/drawingml/2006/main">
            <a:off x="1270" y="0"/>
            <a:ext cx="1616710" cy="638175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997B771-4A4B-4BED-A04E-17CE5B3EA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628650"/>
            <a:ext cx="8858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0070C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100" b="1">
                <a:solidFill>
                  <a:srgbClr val="0070C0"/>
                </a:solidFill>
                <a:latin typeface="Times New Roman"/>
                <a:ea typeface="Times New Roman"/>
                <a:cs typeface="Times New Roman"/>
              </a:rPr>
              <a:t>Validation and Testing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7ADD0D9-6BFB-47EE-A4BA-D5123E86C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72825" y="6486525"/>
            <a:ext cx="428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80808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50" b="0">
                <a:solidFill>
                  <a:srgbClr val="808080"/>
                </a:solidFill>
                <a:latin typeface="Times New Roman"/>
                <a:ea typeface="Times New Roman"/>
                <a:cs typeface="Times New Roman"/>
              </a:rPr>
              <a:t>12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73A973E-566A-44BB-8D41-31ABF89B8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362075"/>
            <a:ext cx="1092517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Core tests cover password handling, tokens and enrollment rule calculations. These checks run independently of the browser interface.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1E63841-EB58-42C5-98D3-1FD97D8F1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143125"/>
            <a:ext cx="1092517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Database/API integration checks cover enrollment, waitlists and academic operations. The checks exercise persisted records and API responses.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40034AF-2D98-4A11-8299-324B12100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924175"/>
            <a:ext cx="1092517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Cluster checks verify that students cannot mix offerings from different clusters. Rejected requests should preserve existing enrollments.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2783AFB-A3A4-4F09-9374-A26B31F99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705225"/>
            <a:ext cx="1092517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Admin checks cover official CGPA changes, restored calculation and audit records. An audit record provides evidence of the administrative change.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5B8941D-529E-4171-9A33-D501446B8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486275"/>
            <a:ext cx="1092517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Production build verification checks that the React application bundles successfully. Recorded results describe the tested environment rather than every deployment.</a:t>
            </a:r>
          </a:p>
        </p:txBody>
      </p:sp>
    </p:spTree>
    <p:extLst>
      <p:ext uri="{BB962C8B-B14F-4D97-AF65-F5344CB8AC3E}">
        <p14:creationId xmlns:p14="http://schemas.microsoft.com/office/powerpoint/2010/main" val="1768368641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fa4b98025c34f8f"/>
          <a:stretch xmlns:a="http://schemas.openxmlformats.org/drawingml/2006/main"/>
        </p:blipFill>
        <p:spPr>
          <a:xfrm xmlns:a="http://schemas.openxmlformats.org/drawingml/2006/main">
            <a:off x="1270" y="0"/>
            <a:ext cx="1616710" cy="638175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ACA91FC-C243-4FE6-A198-C2A76ADF5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628650"/>
            <a:ext cx="8858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0070C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100" b="1">
                <a:solidFill>
                  <a:srgbClr val="0070C0"/>
                </a:solidFill>
                <a:latin typeface="Times New Roman"/>
                <a:ea typeface="Times New Roman"/>
                <a:cs typeface="Times New Roman"/>
              </a:rPr>
              <a:t>Implementation Status and Next Steps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F0EE7F0-DEAB-49ED-B518-6E9B0C59E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72825" y="6486525"/>
            <a:ext cx="428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80808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50" b="0">
                <a:solidFill>
                  <a:srgbClr val="808080"/>
                </a:solidFill>
                <a:latin typeface="Times New Roman"/>
                <a:ea typeface="Times New Roman"/>
                <a:cs typeface="Times New Roman"/>
              </a:rPr>
              <a:t>13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A4E6FD5-8DD6-480B-AC17-F765817FA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362075"/>
            <a:ext cx="1092517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Implemented: authentication, enrollment, cluster restrictions and administrator controls. Student and administrator workflows connect to persistent records.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9D6D30C-45D4-4A9A-B302-95DDB6563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143125"/>
            <a:ext cx="1092517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Implemented: persistent academic records, GPA calculations and audit history. The database also provides views for academic summaries and rankings.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23E1055-5BE5-4E3B-B68F-806AB0DE0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924175"/>
            <a:ext cx="1092517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The current release runs as one Express application backed by MySQL. This deployment keeps local startup and debugging straightforward.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8C43AB1-9C7C-4238-9CE1-10E946F64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705225"/>
            <a:ext cx="1092517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Next steps include automated deployment, backups and expanded API testing. A later release needs Windows, MySQL and browser end-to-end validation.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EC29670-4C34-40D0-B599-2C7C4BCF7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486275"/>
            <a:ext cx="1092517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Microservices and additional database technologies remain future scope. Architecture changes should follow measured workload requirements.</a:t>
            </a:r>
          </a:p>
        </p:txBody>
      </p:sp>
    </p:spTree>
    <p:extLst>
      <p:ext uri="{BB962C8B-B14F-4D97-AF65-F5344CB8AC3E}">
        <p14:creationId xmlns:p14="http://schemas.microsoft.com/office/powerpoint/2010/main" val="2067023801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d272f7388484b36"/>
          <a:stretch xmlns:a="http://schemas.openxmlformats.org/drawingml/2006/main"/>
        </p:blipFill>
        <p:spPr>
          <a:xfrm xmlns:a="http://schemas.openxmlformats.org/drawingml/2006/main">
            <a:off x="1270" y="0"/>
            <a:ext cx="1616710" cy="638175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2405E3F-1FA5-4145-BB00-AB35CE2B0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628650"/>
            <a:ext cx="8858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0070C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100" b="1">
                <a:solidFill>
                  <a:srgbClr val="0070C0"/>
                </a:solidFill>
                <a:latin typeface="Times New Roman"/>
                <a:ea typeface="Times New Roman"/>
                <a:cs typeface="Times New Roman"/>
              </a:rPr>
              <a:t>MySQL Queries for Implementation Evidence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86C38A0-5FFA-4174-A340-B595D59C9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72825" y="6486525"/>
            <a:ext cx="428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80808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50" b="0">
                <a:solidFill>
                  <a:srgbClr val="808080"/>
                </a:solidFill>
                <a:latin typeface="Times New Roman"/>
                <a:ea typeface="Times New Roman"/>
                <a:cs typeface="Times New Roman"/>
              </a:rPr>
              <a:t>14</a:t>
            </a:r>
          </a:p>
        </p:txBody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619125" y="1381125"/>
          <a:ext xmlns:a="http://schemas.openxmlformats.org/drawingml/2006/main" cx="10953750" cy="4191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6477000"/>
                <a:gridCol w="4476750"/>
              </a:tblGrid>
              <a:tr h="598714">
                <a:tc>
                  <a:txBody>
                    <a:bodyPr lIns="114300" tIns="95250" rIns="114300" bIns="76200"/>
                    <a:lstStyle/>
                    <a:p>
                      <a:r>
                        <a:rPr sz="1575" b="1">
                          <a:solidFill>
                            <a:srgbClr val="0070C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SQL command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95250" rIns="114300" bIns="76200"/>
                    <a:lstStyle/>
                    <a:p>
                      <a:r>
                        <a:rPr sz="1575" b="1">
                          <a:solidFill>
                            <a:srgbClr val="0070C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What it demonstrates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598714">
                <a:tc>
                  <a:txBody>
                    <a:bodyPr lIns="114300" tIns="95250" rIns="114300" bIns="76200"/>
                    <a:lstStyle/>
                    <a:p>
                      <a:r>
                        <a:rPr sz="1575" b="0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USE student_portal_pro;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95250" rIns="114300" bIns="76200"/>
                    <a:lstStyle/>
                    <a:p>
                      <a:r>
                        <a:rPr sz="1575" b="0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Select the configured application database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598714">
                <a:tc>
                  <a:txBody>
                    <a:bodyPr lIns="114300" tIns="95250" rIns="114300" bIns="76200"/>
                    <a:lstStyle/>
                    <a:p>
                      <a:r>
                        <a:rPr sz="1575" b="0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SHOW TABLES;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95250" rIns="114300" bIns="76200"/>
                    <a:lstStyle/>
                    <a:p>
                      <a:r>
                        <a:rPr sz="1575" b="0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Inspect the relational tables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598714">
                <a:tc>
                  <a:txBody>
                    <a:bodyPr lIns="114300" tIns="95250" rIns="114300" bIns="76200"/>
                    <a:lstStyle/>
                    <a:p>
                      <a:r>
                        <a:rPr sz="1575" b="0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SELECT * FROM courses;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95250" rIns="114300" bIns="76200"/>
                    <a:lstStyle/>
                    <a:p>
                      <a:r>
                        <a:rPr sz="1575" b="0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Read persisted course offerings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598714">
                <a:tc>
                  <a:txBody>
                    <a:bodyPr lIns="114300" tIns="95250" rIns="114300" bIns="76200"/>
                    <a:lstStyle/>
                    <a:p>
                      <a:r>
                        <a:rPr sz="1575" b="0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SELECT * FROM v_student_academic_summary;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95250" rIns="114300" bIns="76200"/>
                    <a:lstStyle/>
                    <a:p>
                      <a:r>
                        <a:rPr sz="1575" b="0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Inspect effective academic summary values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598714">
                <a:tc>
                  <a:txBody>
                    <a:bodyPr lIns="114300" tIns="95250" rIns="114300" bIns="76200"/>
                    <a:lstStyle/>
                    <a:p>
                      <a:r>
                        <a:rPr sz="1575" b="0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SELECT * FROM waitlist;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95250" rIns="114300" bIns="76200"/>
                    <a:lstStyle/>
                    <a:p>
                      <a:r>
                        <a:rPr sz="1575" b="0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Read waiting students and section requests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598714">
                <a:tc>
                  <a:txBody>
                    <a:bodyPr lIns="114300" tIns="95250" rIns="114300" bIns="76200"/>
                    <a:lstStyle/>
                    <a:p>
                      <a:r>
                        <a:rPr sz="1575" b="0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SHOW TRIGGERS;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95250" rIns="114300" bIns="76200"/>
                    <a:lstStyle/>
                    <a:p>
                      <a:r>
                        <a:rPr sz="1575" b="0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Inspect stored database trigger definitions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25F8195-4DF9-4960-9ED8-A0648F650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838825"/>
            <a:ext cx="10953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Workbench executes SQL. The Express backend uses mysql2 to query the same database.</a:t>
            </a:r>
          </a:p>
        </p:txBody>
      </p:sp>
    </p:spTree>
    <p:extLst>
      <p:ext uri="{BB962C8B-B14F-4D97-AF65-F5344CB8AC3E}">
        <p14:creationId xmlns:p14="http://schemas.microsoft.com/office/powerpoint/2010/main" val="1138531234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cce7c5ae02a4a5e"/>
          <a:stretch xmlns:a="http://schemas.openxmlformats.org/drawingml/2006/main"/>
        </p:blipFill>
        <p:spPr>
          <a:xfrm xmlns:a="http://schemas.openxmlformats.org/drawingml/2006/main">
            <a:off x="1270" y="0"/>
            <a:ext cx="1616710" cy="638175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1F2C9DE-7A7D-4FE1-B2B1-C9C33EE30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628650"/>
            <a:ext cx="8858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0070C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100" b="1">
                <a:solidFill>
                  <a:srgbClr val="0070C0"/>
                </a:solidFill>
                <a:latin typeface="Times New Roman"/>
                <a:ea typeface="Times New Roman"/>
                <a:cs typeface="Times New Roman"/>
              </a:rPr>
              <a:t>Source Files and Implementation Responsibilities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C1796EE-0457-4094-B4E5-96B3F6F1F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72825" y="6486525"/>
            <a:ext cx="428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80808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50" b="0">
                <a:solidFill>
                  <a:srgbClr val="808080"/>
                </a:solidFill>
                <a:latin typeface="Times New Roman"/>
                <a:ea typeface="Times New Roman"/>
                <a:cs typeface="Times New Roman"/>
              </a:rPr>
              <a:t>15</a:t>
            </a:r>
          </a:p>
        </p:txBody>
      </p:sp>
      <p:graphicFrame>
        <p:nvGraphicFramePr>
          <p:cNvPr id="8" name=""/>
          <p:cNvGraphicFramePr/>
          <p:nvPr/>
        </p:nvGraphicFramePr>
        <p:xfrm>
          <a:off xmlns:a="http://schemas.openxmlformats.org/drawingml/2006/main" x="619125" y="1381125"/>
          <a:ext xmlns:a="http://schemas.openxmlformats.org/drawingml/2006/main" cx="10953750" cy="4191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5429250"/>
                <a:gridCol w="5524500"/>
              </a:tblGrid>
              <a:tr h="598714">
                <a:tc>
                  <a:txBody>
                    <a:bodyPr lIns="114300" tIns="95250" rIns="114300" bIns="76200"/>
                    <a:lstStyle/>
                    <a:p>
                      <a:r>
                        <a:rPr sz="1575" b="1">
                          <a:solidFill>
                            <a:srgbClr val="0070C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File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95250" rIns="114300" bIns="76200"/>
                    <a:lstStyle/>
                    <a:p>
                      <a:r>
                        <a:rPr sz="1575" b="1">
                          <a:solidFill>
                            <a:srgbClr val="0070C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Responsibility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598714">
                <a:tc>
                  <a:txBody>
                    <a:bodyPr lIns="114300" tIns="95250" rIns="114300" bIns="76200"/>
                    <a:lstStyle/>
                    <a:p>
                      <a:r>
                        <a:rPr sz="1575" b="0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server/app.js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95250" rIns="114300" bIns="76200"/>
                    <a:lstStyle/>
                    <a:p>
                      <a:r>
                        <a:rPr sz="1575" b="0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Route mounting, request handling and error responses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598714">
                <a:tc>
                  <a:txBody>
                    <a:bodyPr lIns="114300" tIns="95250" rIns="114300" bIns="76200"/>
                    <a:lstStyle/>
                    <a:p>
                      <a:r>
                        <a:rPr sz="1575" b="0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server/config/db.js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95250" rIns="114300" bIns="76200"/>
                    <a:lstStyle/>
                    <a:p>
                      <a:r>
                        <a:rPr sz="1575" b="0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MySQL connection pool configuration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598714">
                <a:tc>
                  <a:txBody>
                    <a:bodyPr lIns="114300" tIns="95250" rIns="114300" bIns="76200"/>
                    <a:lstStyle/>
                    <a:p>
                      <a:r>
                        <a:rPr sz="1575" b="0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server/services/enrollment.js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95250" rIns="114300" bIns="76200"/>
                    <a:lstStyle/>
                    <a:p>
                      <a:r>
                        <a:rPr sz="1575" b="0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Academic eligibility, transactions and queue promotion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598714">
                <a:tc>
                  <a:txBody>
                    <a:bodyPr lIns="114300" tIns="95250" rIns="114300" bIns="76200"/>
                    <a:lstStyle/>
                    <a:p>
                      <a:r>
                        <a:rPr sz="1575" b="0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server/db/schema.sql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95250" rIns="114300" bIns="76200"/>
                    <a:lstStyle/>
                    <a:p>
                      <a:r>
                        <a:rPr sz="1575" b="0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Tables, relationships, constraints and stored database logic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598714">
                <a:tc>
                  <a:txBody>
                    <a:bodyPr lIns="114300" tIns="95250" rIns="114300" bIns="76200"/>
                    <a:lstStyle/>
                    <a:p>
                      <a:r>
                        <a:rPr sz="1575" b="0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server/db/seed.js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95250" rIns="114300" bIns="76200"/>
                    <a:lstStyle/>
                    <a:p>
                      <a:r>
                        <a:rPr sz="1575" b="0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Insert demonstration data through a database connection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598714">
                <a:tc>
                  <a:txBody>
                    <a:bodyPr lIns="114300" tIns="95250" rIns="114300" bIns="76200"/>
                    <a:lstStyle/>
                    <a:p>
                      <a:r>
                        <a:rPr sz="1575" b="0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README.md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95250" rIns="114300" bIns="76200"/>
                    <a:lstStyle/>
                    <a:p>
                      <a:r>
                        <a:rPr sz="1575" b="0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Configuration, execution and demonstration instructions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907252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eda2998db694084"/>
          <a:stretch xmlns:a="http://schemas.openxmlformats.org/drawingml/2006/main"/>
        </p:blipFill>
        <p:spPr>
          <a:xfrm xmlns:a="http://schemas.openxmlformats.org/drawingml/2006/main">
            <a:off x="1270" y="0"/>
            <a:ext cx="1616710" cy="638175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35C2AD7-68D5-4EBB-B667-BE6314459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628650"/>
            <a:ext cx="8858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0070C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100" b="1">
                <a:solidFill>
                  <a:srgbClr val="0070C0"/>
                </a:solidFill>
                <a:latin typeface="Times New Roman"/>
                <a:ea typeface="Times New Roman"/>
                <a:cs typeface="Times New Roman"/>
              </a:rPr>
              <a:t>Implementation Outcomes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F0483A9-4547-4E0F-B333-282873EC8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72825" y="6486525"/>
            <a:ext cx="428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80808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50" b="0">
                <a:solidFill>
                  <a:srgbClr val="808080"/>
                </a:solidFill>
                <a:latin typeface="Times New Roman"/>
                <a:ea typeface="Times New Roman"/>
                <a:cs typeface="Times New Roman"/>
              </a:rPr>
              <a:t>16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BCB8BF2-A5DE-4FDD-906C-2ACA3406A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362075"/>
            <a:ext cx="10925175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Student and administrator pages read records through the Express API.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F01C50C-6C7C-41FF-AF92-949D946C7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124075"/>
            <a:ext cx="10925175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The backend accepts eligible course requests and rejects invalid selections.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C8362CF-1E81-45DF-AFF0-170BAD513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886075"/>
            <a:ext cx="10925175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A semester cluster lock applies across every subject selected by the student.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5790BF3-2387-4730-8C05-C09302614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648075"/>
            <a:ext cx="10925175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Administrative CGPA changes preserve the grade-derived academic results.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6A2FB85-95B5-4E5C-8456-13D92FC4F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410075"/>
            <a:ext cx="10925175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Database records and audit history provide evidence of completed operations.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8A912AC-D354-410E-8AAA-8311B2639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172075"/>
            <a:ext cx="10925175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Further validation should cover Windows startup, MySQL and interactive browser flows.</a:t>
            </a:r>
          </a:p>
        </p:txBody>
      </p:sp>
    </p:spTree>
    <p:extLst>
      <p:ext uri="{BB962C8B-B14F-4D97-AF65-F5344CB8AC3E}">
        <p14:creationId xmlns:p14="http://schemas.microsoft.com/office/powerpoint/2010/main" val="1164463367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0894c52d142496d"/>
          <a:stretch xmlns:a="http://schemas.openxmlformats.org/drawingml/2006/main"/>
        </p:blipFill>
        <p:spPr>
          <a:xfrm xmlns:a="http://schemas.openxmlformats.org/drawingml/2006/main">
            <a:off x="1270" y="0"/>
            <a:ext cx="1616710" cy="638175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A044137-1E33-453C-9178-F8EB3FF58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628650"/>
            <a:ext cx="8858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03FBD20-768E-418F-82D8-AD14665F1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72825" y="6486525"/>
            <a:ext cx="428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80808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50" b="0">
                <a:solidFill>
                  <a:srgbClr val="808080"/>
                </a:solidFill>
                <a:latin typeface="Times New Roman"/>
                <a:ea typeface="Times New Roman"/>
                <a:cs typeface="Times New Roman"/>
              </a:rPr>
              <a:t>17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F261F05-CCC9-4149-B897-DAD1E832F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686050"/>
            <a:ext cx="5524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700" b="1">
                <a:solidFill>
                  <a:srgbClr val="0070C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700" b="1">
                <a:solidFill>
                  <a:srgbClr val="0070C0"/>
                </a:solidFill>
                <a:latin typeface="Times New Roman"/>
                <a:ea typeface="Times New Roman"/>
                <a:cs typeface="Times New Roman"/>
              </a:rPr>
              <a:t>THANK YOU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DCE7796-433E-4EF8-86B6-52FCF8FD6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3438525"/>
            <a:ext cx="7429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75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Questions and Live Demonstration</a:t>
            </a:r>
          </a:p>
        </p:txBody>
      </p:sp>
    </p:spTree>
    <p:extLst>
      <p:ext uri="{BB962C8B-B14F-4D97-AF65-F5344CB8AC3E}">
        <p14:creationId xmlns:p14="http://schemas.microsoft.com/office/powerpoint/2010/main" val="90763286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2026-10-03T02:53:49.9360000Z</dcterms:created>
  <dcterms:modified xsi:type="dcterms:W3CDTF">2026-10-03T02:53:49.9360000Z</dcterms:modified>
</coreProperties>
</file>